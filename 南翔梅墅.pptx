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1 / 58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8686800" y="-1097280"/>
            <a:ext cx="4114800" cy="4114800"/>
          </a:xfrm>
          <a:prstGeom prst="ellipse">
            <a:avLst/>
          </a:prstGeom>
          <a:solidFill>
            <a:srgbClr val="C23A2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0" y="-1097280"/>
            <a:ext cx="4114800" cy="4114800"/>
          </a:xfrm>
          <a:prstGeom prst="rect">
            <a:avLst/>
          </a:prstGeom>
          <a:solidFill>
            <a:srgbClr val="C23A2A">
              <a:alpha val="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历史建筑活化利用 · 文商旅融合发展总体方案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南翔梅墅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文化复兴总体规划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5C4E3E"/>
                </a:solidFill>
              </a:rPr>
              <a:t>2026 — 2036 · 一座百年宅邸的第四次重生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4114800"/>
            <a:ext cx="2103120" cy="36576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1879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南翔古镇核心区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4114800"/>
            <a:ext cx="2103120" cy="36576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41879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约3,600㎡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94960" y="4114800"/>
            <a:ext cx="2103120" cy="36576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41879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三进院落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680960" y="4114800"/>
            <a:ext cx="2103120" cy="36576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41879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国家AAAA景区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2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CONTENTS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报告结构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51892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08760"/>
            <a:ext cx="45720" cy="73152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6002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37360" y="1618488"/>
            <a:ext cx="40919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816"/>
                </a:solidFill>
              </a:rPr>
              <a:t>项目本体分析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6772" y="1508760"/>
            <a:ext cx="51892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6772" y="1508760"/>
            <a:ext cx="45720" cy="73152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5372" y="16002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91172" y="1618488"/>
            <a:ext cx="40919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816"/>
                </a:solidFill>
              </a:rPr>
              <a:t>市场研究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2377440"/>
            <a:ext cx="51892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2377440"/>
            <a:ext cx="45720" cy="73152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468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737360" y="2487168"/>
            <a:ext cx="40919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816"/>
                </a:solidFill>
              </a:rPr>
              <a:t>战略定位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6772" y="2377440"/>
            <a:ext cx="51892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6772" y="2377440"/>
            <a:ext cx="45720" cy="73152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5372" y="2468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91172" y="2487168"/>
            <a:ext cx="40919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816"/>
                </a:solidFill>
              </a:rPr>
              <a:t>总体规划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3246120"/>
            <a:ext cx="51892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3246120"/>
            <a:ext cx="45720" cy="73152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33375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737360" y="3355848"/>
            <a:ext cx="40919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816"/>
                </a:solidFill>
              </a:rPr>
              <a:t>产品体系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76772" y="3246120"/>
            <a:ext cx="51892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6772" y="3246120"/>
            <a:ext cx="45720" cy="73152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5372" y="33375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091172" y="3355848"/>
            <a:ext cx="40919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816"/>
                </a:solidFill>
              </a:rPr>
              <a:t>商业模型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22960" y="4114800"/>
            <a:ext cx="51892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2960" y="4114800"/>
            <a:ext cx="45720" cy="73152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4206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07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737360" y="4224528"/>
            <a:ext cx="40919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816"/>
                </a:solidFill>
              </a:rPr>
              <a:t>投资模型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176772" y="4114800"/>
            <a:ext cx="51892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6772" y="4114800"/>
            <a:ext cx="45720" cy="73152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5372" y="4206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08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091172" y="4224528"/>
            <a:ext cx="40919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816"/>
                </a:solidFill>
              </a:rPr>
              <a:t>运营体系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22960" y="4983480"/>
            <a:ext cx="51892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22960" y="4983480"/>
            <a:ext cx="45720" cy="73152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51560" y="50749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09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737360" y="5093208"/>
            <a:ext cx="40919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816"/>
                </a:solidFill>
              </a:rPr>
              <a:t>实施计划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176772" y="4983480"/>
            <a:ext cx="51892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76772" y="4983480"/>
            <a:ext cx="45720" cy="73152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5372" y="50749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10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091172" y="5093208"/>
            <a:ext cx="40919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816"/>
                </a:solidFill>
              </a:rPr>
              <a:t>风险控制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3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858000" y="274320"/>
            <a:ext cx="5029200" cy="594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0" b="1" dirty="0">
                <a:solidFill>
                  <a:srgbClr val="C23A2A">
                    <a:alpha val="12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26000" dirty="0"/>
          </a:p>
        </p:txBody>
      </p:sp>
      <p:sp>
        <p:nvSpPr>
          <p:cNvPr id="5" name="Text 3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第一章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项目本体分析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5C4E3E"/>
                </a:solidFill>
              </a:rPr>
              <a:t>回答"梅墅到底是什么？"——从历史、建筑和第一性原理出发，重新认识这座百年宅邸的底层资产。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4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1.1 · 项目概况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项目基本信息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5180076" cy="128016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645920"/>
            <a:ext cx="47228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23A2A"/>
                </a:solidFill>
              </a:rPr>
              <a:t>项目名称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47228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816"/>
                </a:solidFill>
              </a:rPr>
              <a:t>南翔梅墅（暂定）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85916" y="1508760"/>
            <a:ext cx="5180076" cy="128016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14516" y="1645920"/>
            <a:ext cx="47228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23A2A"/>
                </a:solidFill>
              </a:rPr>
              <a:t>建筑面积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14516" y="1965960"/>
            <a:ext cx="47228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816"/>
                </a:solidFill>
              </a:rPr>
              <a:t>约 3,600 ㎡（三进院落）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2926080"/>
            <a:ext cx="5180076" cy="128016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3063240"/>
            <a:ext cx="47228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23A2A"/>
                </a:solidFill>
              </a:rPr>
              <a:t>项目地址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383280"/>
            <a:ext cx="47228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816"/>
                </a:solidFill>
              </a:rPr>
              <a:t>上海市嘉定区南翔镇德华路617号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85916" y="2926080"/>
            <a:ext cx="5180076" cy="128016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14516" y="3063240"/>
            <a:ext cx="47228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23A2A"/>
                </a:solidFill>
              </a:rPr>
              <a:t>区位属性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14516" y="3383280"/>
            <a:ext cx="47228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816"/>
                </a:solidFill>
              </a:rPr>
              <a:t>国家AAAA级景区 · 南翔古镇核心区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4343400"/>
            <a:ext cx="5180076" cy="128016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51560" y="4480560"/>
            <a:ext cx="47228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23A2A"/>
                </a:solidFill>
              </a:rPr>
              <a:t>毗邻资源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4800600"/>
            <a:ext cx="47228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816"/>
                </a:solidFill>
              </a:rPr>
              <a:t>檀园 · 南翔老街 · 云翔寺 · 南翔双塔 · 古猗园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85916" y="4343400"/>
            <a:ext cx="5180076" cy="128016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14516" y="4480560"/>
            <a:ext cx="47228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23A2A"/>
                </a:solidFill>
              </a:rPr>
              <a:t>交通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14516" y="4800600"/>
            <a:ext cx="47228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816"/>
                </a:solidFill>
              </a:rPr>
              <a:t>地铁11号线南翔站 · 嘉定多路公交 · 推荐自驾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5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1.2 · 南翔城市研究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南翔：从千年古镇到文旅目的地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207008" y="1554480"/>
            <a:ext cx="22860" cy="4361688"/>
          </a:xfrm>
          <a:prstGeom prst="rect">
            <a:avLst/>
          </a:prstGeom>
          <a:solidFill>
            <a:srgbClr val="C23A2A">
              <a:alpha val="NaN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1288" y="1591056"/>
            <a:ext cx="128016" cy="128016"/>
          </a:xfrm>
          <a:prstGeom prst="ellipse">
            <a:avLst/>
          </a:prstGeom>
          <a:solidFill>
            <a:srgbClr val="FAF7F0"/>
          </a:solidFill>
          <a:ln w="19050">
            <a:solidFill>
              <a:srgbClr val="C23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53619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梁天监年间（502-519）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17922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白鹤南翔寺建成，南翔因寺得名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161288" y="2340864"/>
            <a:ext cx="128016" cy="128016"/>
          </a:xfrm>
          <a:prstGeom prst="ellipse">
            <a:avLst/>
          </a:prstGeom>
          <a:solidFill>
            <a:srgbClr val="FAF7F0"/>
          </a:solidFill>
          <a:ln w="19050">
            <a:solidFill>
              <a:srgbClr val="C23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22860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宋元时期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2542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商业古镇兴起，棉花、土布贸易繁荣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161288" y="3090672"/>
            <a:ext cx="128016" cy="128016"/>
          </a:xfrm>
          <a:prstGeom prst="ellipse">
            <a:avLst/>
          </a:prstGeom>
          <a:solidFill>
            <a:srgbClr val="FAF7F0"/>
          </a:solidFill>
          <a:ln w="19050">
            <a:solidFill>
              <a:srgbClr val="C23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30358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明清时期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"银南翔"美誉，商贾云集，园林兴盛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161288" y="3840480"/>
            <a:ext cx="128016" cy="128016"/>
          </a:xfrm>
          <a:prstGeom prst="ellipse">
            <a:avLst/>
          </a:prstGeom>
          <a:solidFill>
            <a:srgbClr val="FAF7F0"/>
          </a:solidFill>
          <a:ln w="19050">
            <a:solidFill>
              <a:srgbClr val="C23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378561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民国时期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4041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中西文化交融，梅墅等私家宅邸兴建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161288" y="4590288"/>
            <a:ext cx="128016" cy="128016"/>
          </a:xfrm>
          <a:prstGeom prst="ellipse">
            <a:avLst/>
          </a:prstGeom>
          <a:solidFill>
            <a:srgbClr val="FAF7F0"/>
          </a:solidFill>
          <a:ln w="19050">
            <a:solidFill>
              <a:srgbClr val="C23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453542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2000年代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479145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古镇保护启动，南翔老街获评国家AAAA级景区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61288" y="5340096"/>
            <a:ext cx="128016" cy="128016"/>
          </a:xfrm>
          <a:prstGeom prst="ellipse">
            <a:avLst/>
          </a:prstGeom>
          <a:solidFill>
            <a:srgbClr val="FAF7F0"/>
          </a:solidFill>
          <a:ln w="19050">
            <a:solidFill>
              <a:srgbClr val="C23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63040" y="52852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63040" y="55412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23A2A"/>
                </a:solidFill>
              </a:rPr>
              <a:t>文旅深度融合，从"观光"转向"体验目的地"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6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1.3 · 梅墅历史研究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百年四重身份：一座宅邸的演化史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2553462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737360"/>
            <a:ext cx="21877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1930s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05840" y="2377440"/>
            <a:ext cx="218770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816"/>
                </a:solidFill>
              </a:rPr>
              <a:t>梅墅 · 张志崇私宅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743200"/>
            <a:ext cx="218770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中西合璧私家宅邸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占地约4,000㎡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毗邻檀园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86150" y="1554480"/>
            <a:ext cx="2553462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69030" y="1737360"/>
            <a:ext cx="21877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2009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669030" y="2377440"/>
            <a:ext cx="218770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816"/>
                </a:solidFill>
              </a:rPr>
              <a:t>南翔公馆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69030" y="2743200"/>
            <a:ext cx="218770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高端中式餐饮会所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三间两进传统院落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弘扬中式传统文化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49340" y="1554480"/>
            <a:ext cx="2553462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32220" y="1737360"/>
            <a:ext cx="21877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332220" y="2377440"/>
            <a:ext cx="218770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816"/>
                </a:solidFill>
              </a:rPr>
              <a:t>荣华园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32220" y="2743200"/>
            <a:ext cx="218770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茶宴+宴会模式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15间雅包+6间茶室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港式午茶+茶宴菜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812530" y="1554480"/>
            <a:ext cx="2553462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812530" y="1554480"/>
            <a:ext cx="45720" cy="237744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95410" y="1737360"/>
            <a:ext cx="21877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995410" y="2377440"/>
            <a:ext cx="218770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</a:rPr>
              <a:t>第四次重生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95410" y="2743200"/>
            <a:ext cx="218770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历史建筑IP活化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文商旅融合空间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江南生活方式目的地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2960" y="4160520"/>
            <a:ext cx="105430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5C4E3E"/>
                </a:solidFill>
              </a:rPr>
              <a:t>这里已不是"梅墅"原建筑，而是承载百年记忆的历史场所（Historic Place）。真正的资产不是砖瓦，而是空间关系、历史故事和文化语境。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7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1.4 · 历史人物与事件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张志崇与王文娟事件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5157216" cy="210312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691640"/>
            <a:ext cx="47000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23A2A"/>
                </a:solidFill>
              </a:rPr>
              <a:t>张志崇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011680"/>
            <a:ext cx="47000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南翔人，1930年代建造梅墅。抗战时期担任上海沪东日本宪兵黑坂部队翻译，为汉奸身份。历史评价需客观对待，不能神化、不能回避。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51560" y="3246120"/>
            <a:ext cx="1645920" cy="292608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2735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C8A72"/>
                </a:solidFill>
              </a:rPr>
              <a:t>史料等级：二级/地方志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08776" y="1554480"/>
            <a:ext cx="5157216" cy="210312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37376" y="1691640"/>
            <a:ext cx="47000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23A2A"/>
                </a:solidFill>
              </a:rPr>
              <a:t>1941年王文娟梅墅脱险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37376" y="2011680"/>
            <a:ext cx="47000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越剧名伶王文娟在南翔共和台演出，遭张志崇持枪威逼至梅墅"清唱"。王文娟以全班同进同出为条件与汉奸周旋，最终机智脱险。展现了中国人民不屈的民族气节。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37376" y="3246120"/>
            <a:ext cx="1645920" cy="292608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8816" y="32735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C8A72"/>
                </a:solidFill>
              </a:rPr>
              <a:t>史料等级：二级/口述史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22960" y="3886200"/>
            <a:ext cx="1054303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886200"/>
            <a:ext cx="45720" cy="73152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977640"/>
            <a:ext cx="100858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C4E3E"/>
                </a:solidFill>
              </a:rPr>
              <a:t>历史叙事原则：可作为历史展示，不能娱乐化消费。建立历史可信度矩阵，每一条叙事标注史料等级。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8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1.5 · 建筑研究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建筑价值评估：历史场所而非文保建筑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51572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</a:rPr>
              <a:t>保留的空间要素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5157216" cy="475488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1874520"/>
            <a:ext cx="4791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816"/>
                </a:solidFill>
              </a:rPr>
              <a:t>✓ 三进院落 — 完整的传统空间序列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2395728"/>
            <a:ext cx="5157216" cy="475488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2441448"/>
            <a:ext cx="4791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816"/>
                </a:solidFill>
              </a:rPr>
              <a:t>✓ 中轴布局 — 南北向主轴线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2962656"/>
            <a:ext cx="5157216" cy="475488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3008376"/>
            <a:ext cx="4791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816"/>
                </a:solidFill>
              </a:rPr>
              <a:t>✓ 回廊系统 — 连接各院落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3529584"/>
            <a:ext cx="5157216" cy="475488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3575304"/>
            <a:ext cx="4791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816"/>
                </a:solidFill>
              </a:rPr>
              <a:t>✓ 天井 — 自然采光与通风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4096512"/>
            <a:ext cx="5157216" cy="475488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4142232"/>
            <a:ext cx="4791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816"/>
                </a:solidFill>
              </a:rPr>
              <a:t>✓ 多庭院 — 三处庭院，绿意盎然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4663440"/>
            <a:ext cx="5157216" cy="475488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05840" y="4709160"/>
            <a:ext cx="4791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816"/>
                </a:solidFill>
              </a:rPr>
              <a:t>✓ 包厢格局 — 独立空间单元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08776" y="1463040"/>
            <a:ext cx="51572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</a:rPr>
              <a:t>建筑属性判断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08776" y="1828800"/>
            <a:ext cx="5157216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08776" y="1828800"/>
            <a:ext cx="45720" cy="320040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7376" y="1965960"/>
            <a:ext cx="470001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250" dirty="0">
                <a:solidFill>
                  <a:srgbClr val="5C4E3E"/>
                </a:solidFill>
              </a:rPr>
              <a:t>非文保建筑，而是历史场所（Historic Place）。真正留下来的不是原建筑的砖瓦木石，而是空间关系、院落格局和历史记忆。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37376" y="3383280"/>
            <a:ext cx="457200" cy="2286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37376" y="3520440"/>
            <a:ext cx="47000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9C8A72"/>
                </a:solidFill>
              </a:rPr>
              <a:t>这意味着：改造自由度较高，但需遵循历史风貌保护要求，避免过度商业化装修影响建筑价值。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9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1.6 · 第一性原理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历史商业空间的核心公式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737360" y="169164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37360" y="16916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空间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93192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C23A2A"/>
                </a:solidFill>
              </a:rPr>
              <a:t>×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0" y="169164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16916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故事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6656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C23A2A"/>
                </a:solidFill>
              </a:rPr>
              <a:t>×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406640" y="169164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06640" y="16916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运营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2960" y="2834640"/>
            <a:ext cx="1054303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4E3E"/>
                </a:solidFill>
              </a:rPr>
              <a:t>三者缺一不可。目前梅墅的现状：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3383280"/>
            <a:ext cx="336194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3611880"/>
            <a:ext cx="336194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B8944A"/>
                </a:solidFill>
              </a:rPr>
              <a:t>★★★★★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22960" y="4023360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816"/>
                </a:solidFill>
              </a:rPr>
              <a:t>空间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343400"/>
            <a:ext cx="336194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三进院落 | 核心区位 | 稀缺性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13504" y="3383280"/>
            <a:ext cx="336194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13504" y="3611880"/>
            <a:ext cx="336194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B8944A"/>
                </a:solidFill>
              </a:rPr>
              <a:t>★★★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413504" y="4023360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816"/>
                </a:solidFill>
              </a:rPr>
              <a:t>故事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13504" y="4343400"/>
            <a:ext cx="336194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百年历史 | 未被充分挖掘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04048" y="3383280"/>
            <a:ext cx="336194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04048" y="3383280"/>
            <a:ext cx="3361944" cy="1463040"/>
          </a:xfrm>
          <a:prstGeom prst="rect">
            <a:avLst/>
          </a:prstGeom>
          <a:solidFill>
            <a:srgbClr val="000000"/>
          </a:solidFill>
          <a:ln w="25400">
            <a:solidFill>
              <a:srgbClr val="C23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04048" y="3611880"/>
            <a:ext cx="336194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B8944A"/>
                </a:solidFill>
              </a:rPr>
              <a:t>★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004048" y="4023360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23A2A"/>
                </a:solidFill>
              </a:rPr>
              <a:t>运营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04048" y="4343400"/>
            <a:ext cx="336194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单一业态 | 亟需重建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10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1.7 · 现状诊断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SWOT 分析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463040"/>
            <a:ext cx="5180076" cy="205740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572768"/>
            <a:ext cx="47228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4A6B3E"/>
                </a:solidFill>
              </a:rPr>
              <a:t>S · 优势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920240"/>
            <a:ext cx="453999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· 国家AAAA景区核心区位，不可复制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2231136"/>
            <a:ext cx="453999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· 三进院落完整空间格局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34440" y="2542032"/>
            <a:ext cx="453999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· 百年历史IP，故事资源丰富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34440" y="2852928"/>
            <a:ext cx="453999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· 毗邻檀园、双塔等文旅资源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34440" y="3163824"/>
            <a:ext cx="453999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· 独立停车库，自驾友好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85916" y="1463040"/>
            <a:ext cx="5180076" cy="205740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14516" y="1572768"/>
            <a:ext cx="47228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</a:rPr>
              <a:t>W · 劣势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97396" y="1920240"/>
            <a:ext cx="453999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· 非文保建筑，原建筑已不存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97396" y="2231136"/>
            <a:ext cx="453999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· 两度餐饮转型未能持续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97396" y="2542032"/>
            <a:ext cx="453999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· 品牌认知度低，缺乏独立IP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97396" y="2852928"/>
            <a:ext cx="453999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· 南翔游客以短停观光为主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97396" y="3163824"/>
            <a:ext cx="453999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· 运营团队缺乏复合业态经验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" y="3703320"/>
            <a:ext cx="5180076" cy="205740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51560" y="3813048"/>
            <a:ext cx="47228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8944A"/>
                </a:solidFill>
              </a:rPr>
              <a:t>O · 机会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160520"/>
            <a:ext cx="453999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· 上海文旅消费升级，文化体验需求增长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34440" y="4471416"/>
            <a:ext cx="453999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· 历史建筑活化利用政策支持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34440" y="4782312"/>
            <a:ext cx="453999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· 古镇北入口缺乏核心吸引物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34440" y="5093208"/>
            <a:ext cx="453999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· 江南生活方式IP市场空白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34440" y="5404104"/>
            <a:ext cx="453999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· 夜经济、沉浸式体验趋势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85916" y="3703320"/>
            <a:ext cx="5180076" cy="205740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14516" y="3813048"/>
            <a:ext cx="47228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816"/>
                </a:solidFill>
              </a:rPr>
              <a:t>T · 威胁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97396" y="4160520"/>
            <a:ext cx="453999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· 蟠龙天地、张园等同城竞争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97396" y="4471416"/>
            <a:ext cx="453999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· 周边古镇（乌镇、西塘）分流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97396" y="4782312"/>
            <a:ext cx="453999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· 历史叙事不当可能引发争议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97396" y="5093208"/>
            <a:ext cx="453999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· 投资回报周期不确定性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97396" y="5404104"/>
            <a:ext cx="453999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· 消费降级趋势下的客单价压力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11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1.8 · 核心矛盾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为什么前两次转型都失败了？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5157216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54480"/>
            <a:ext cx="45720" cy="146304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691640"/>
            <a:ext cx="47000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</a:rPr>
              <a:t>南翔公馆（2009）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011680"/>
            <a:ext cx="47000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定位高端中式餐饮，但缺乏差异化内容，与上海大量高端中餐同质化竞争。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51560" y="2697480"/>
            <a:ext cx="2286000" cy="27432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72491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C8A72"/>
                </a:solidFill>
              </a:rPr>
              <a:t>失败原因：单一业态依赖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08776" y="1554480"/>
            <a:ext cx="5157216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08776" y="1554480"/>
            <a:ext cx="45720" cy="146304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1691640"/>
            <a:ext cx="47000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</a:rPr>
              <a:t>荣华园（2021）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37376" y="2011680"/>
            <a:ext cx="47000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茶宴+宴会模式，增加了茶文化和艺术元素，但本质上仍是餐饮驱动。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37376" y="2697480"/>
            <a:ext cx="2743200" cy="27432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28816" y="27249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C8A72"/>
                </a:solidFill>
              </a:rPr>
              <a:t>失败原因：产品同质化，缺乏内容壁垒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2960" y="3337560"/>
            <a:ext cx="10543032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3337560"/>
            <a:ext cx="45720" cy="1463040"/>
          </a:xfrm>
          <a:prstGeom prst="rect">
            <a:avLst/>
          </a:prstGeom>
          <a:solidFill>
            <a:srgbClr val="B8944A"/>
          </a:solidFill>
          <a:ln w="6350">
            <a:solidFill>
              <a:srgbClr val="B894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4564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8944A"/>
                </a:solidFill>
              </a:rPr>
              <a:t>根本原因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794760"/>
            <a:ext cx="100858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5C4E3E"/>
                </a:solidFill>
              </a:rPr>
              <a:t>不是装修问题，也不是经营问题。是定位问题。始终把它当作"一家餐厅"在运营，而不是"一处历史场所"。真正的解决方案不是升级餐饮，而是重新定义它是什么。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12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858000" y="274320"/>
            <a:ext cx="5029200" cy="594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0" b="1" dirty="0">
                <a:solidFill>
                  <a:srgbClr val="C23A2A">
                    <a:alpha val="12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26000" dirty="0"/>
          </a:p>
        </p:txBody>
      </p:sp>
      <p:sp>
        <p:nvSpPr>
          <p:cNvPr id="5" name="Text 3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第二章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市场研究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5C4E3E"/>
                </a:solidFill>
              </a:rPr>
              <a:t>理解上海文旅消费趋势，对标国内外成功案例，找准梅墅在市场中的独特位置。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13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2.1 · 宏观趋势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上海文旅消费六大趋势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3404616" cy="114300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600200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C23A2A"/>
                </a:solidFill>
              </a:rPr>
              <a:t>消费升级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1892808"/>
            <a:ext cx="3038856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从"观光"到"体验"，从"拍照打卡"到"深度沉浸"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92168" y="1508760"/>
            <a:ext cx="3404616" cy="114300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5048" y="1600200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C23A2A"/>
                </a:solidFill>
              </a:rPr>
              <a:t>夜经济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5048" y="1892808"/>
            <a:ext cx="3038856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夜间消费占比持续提升，文化夜游、沉浸式夜宴成为新增长点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61376" y="1508760"/>
            <a:ext cx="3404616" cy="114300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44256" y="1600200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C23A2A"/>
                </a:solidFill>
              </a:rPr>
              <a:t>沉浸体验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144256" y="1892808"/>
            <a:ext cx="3038856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剧本杀、实景演出、沉浸式展览等复合体验需求爆发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2788920"/>
            <a:ext cx="3404616" cy="114300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2880360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C23A2A"/>
                </a:solidFill>
              </a:rPr>
              <a:t>文化消费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05840" y="3172968"/>
            <a:ext cx="3038856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非遗、茶道、香道、花艺等传统文化体验受年轻客群追捧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92168" y="2788920"/>
            <a:ext cx="3404616" cy="114300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5048" y="2880360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C23A2A"/>
                </a:solidFill>
              </a:rPr>
              <a:t>银发经济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5048" y="3172968"/>
            <a:ext cx="3038856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退休人群品质消费力强，文化养生、雅集社交需求旺盛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61376" y="2788920"/>
            <a:ext cx="3404616" cy="114300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44256" y="2880360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C23A2A"/>
                </a:solidFill>
              </a:rPr>
              <a:t>企业团建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144256" y="3172968"/>
            <a:ext cx="3038856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企业活动从酒店转向有文化底蕴的特色空间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14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2.2 · 上海历史建筑活化案例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对标分析：上海标杆项目</a:t>
            </a:r>
            <a:endParaRPr lang="en-US" sz="2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54480"/>
          <a:ext cx="1054303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3200400"/>
                <a:gridCol w="2286000"/>
                <a:gridCol w="203911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项目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定位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成功要素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可借鉴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不可复制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C4E3E"/>
                          </a:solidFill>
                        </a:rPr>
                        <a:t>张园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高端消费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石库门建筑群+国际品牌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历史建筑IP化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重资产模式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C4E3E"/>
                          </a:solidFill>
                        </a:rPr>
                        <a:t>蟠龙天地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江南商业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古镇+商业+自然融合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场景化消费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大规模开发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C4E3E"/>
                          </a:solidFill>
                        </a:rPr>
                        <a:t>今潮8弄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青年文化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石库门+艺术+潮流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内容驱动流量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市中心区位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C4E3E"/>
                          </a:solidFill>
                        </a:rPr>
                        <a:t>上生新所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设计社群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历史建筑+创意办公+商业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多元业态组合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产业园区属性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C4E3E"/>
                          </a:solidFill>
                        </a:rPr>
                        <a:t>愚园路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城市生活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街区活化+社区共生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渐进式更新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线性街区形态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C4E3E"/>
                          </a:solidFill>
                        </a:rPr>
                        <a:t>思南公馆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文化体验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花园洋房+文学+活动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文化IP运营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独栋别墅群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15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2.3 · 江南古镇案例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江南古镇文旅模式对比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340461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08760"/>
            <a:ext cx="45720" cy="141732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00200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816"/>
                </a:solidFill>
              </a:rPr>
              <a:t>乌镇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892808"/>
            <a:ext cx="303885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戏剧节+互联网大会+统一管理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✓ 内容IP驱动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✗ 过度商业化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92168" y="1508760"/>
            <a:ext cx="340461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92168" y="1508760"/>
            <a:ext cx="45720" cy="141732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5048" y="1600200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816"/>
                </a:solidFill>
              </a:rPr>
              <a:t>拈花湾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5048" y="1892808"/>
            <a:ext cx="303885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禅意主题+沉浸演艺+夜游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✓ 主题鲜明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✗ 人造感强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61376" y="1508760"/>
            <a:ext cx="340461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61376" y="1508760"/>
            <a:ext cx="45720" cy="141732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44256" y="1600200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816"/>
                </a:solidFill>
              </a:rPr>
              <a:t>西塘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44256" y="1892808"/>
            <a:ext cx="303885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汉服文化+夜经济+酒吧街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✓ 年轻客群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✗ 同质化严重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3063240"/>
            <a:ext cx="340461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3063240"/>
            <a:ext cx="45720" cy="141732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154680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816"/>
                </a:solidFill>
              </a:rPr>
              <a:t>朱家角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447288"/>
            <a:ext cx="303885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近郊优势+水乡+音乐节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✓ 交通便利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✗ 缺乏深度体验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92168" y="3063240"/>
            <a:ext cx="340461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92168" y="3063240"/>
            <a:ext cx="45720" cy="141732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5048" y="3154680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816"/>
                </a:solidFill>
              </a:rPr>
              <a:t>南浔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5048" y="3447288"/>
            <a:ext cx="303885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中西合璧建筑+丝绸文化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✓ 建筑独特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✗ 运营分散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61376" y="3063240"/>
            <a:ext cx="3404616" cy="1417320"/>
          </a:xfrm>
          <a:prstGeom prst="rect">
            <a:avLst/>
          </a:prstGeom>
          <a:solidFill>
            <a:srgbClr val="F5EDE0"/>
          </a:solidFill>
          <a:ln w="19050">
            <a:solidFill>
              <a:srgbClr val="C23A2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144256" y="3154680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</a:rPr>
              <a:t>梅墅的机会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44256" y="3447288"/>
            <a:ext cx="303885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不是做一个古镇，而是在古镇中做一个深度文化目的地——让游客"进得来、留得住、带得走"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16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2.4 · 南翔竞争分析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南翔古镇文旅生态：梅墅可以补什么？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51572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</a:rPr>
              <a:t>现有资源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5157216" cy="54864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1874520"/>
            <a:ext cx="4791456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816"/>
                </a:solidFill>
              </a:rPr>
              <a:t>古猗园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4791456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明代园林，观光为主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468880"/>
            <a:ext cx="5157216" cy="54864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2514600"/>
            <a:ext cx="4791456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816"/>
                </a:solidFill>
              </a:rPr>
              <a:t>南翔老街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05840" y="2743200"/>
            <a:ext cx="4791456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小笼包+购物，短停消费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3108960"/>
            <a:ext cx="5157216" cy="54864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3154680"/>
            <a:ext cx="4791456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816"/>
                </a:solidFill>
              </a:rPr>
              <a:t>檀园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05840" y="3383280"/>
            <a:ext cx="4791456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李流芳私家园林，文化观光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3749040"/>
            <a:ext cx="5157216" cy="54864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3794760"/>
            <a:ext cx="4791456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816"/>
                </a:solidFill>
              </a:rPr>
              <a:t>云翔寺/双塔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05840" y="4023360"/>
            <a:ext cx="4791456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宗教文化，参观为主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08776" y="1463040"/>
            <a:ext cx="51572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</a:rPr>
              <a:t>市场空白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08776" y="1828800"/>
            <a:ext cx="5157216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08776" y="1828800"/>
            <a:ext cx="45720" cy="283464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83096" y="2011680"/>
            <a:ext cx="46085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· 缺乏深度体验：游客"逛一圈就走"，停留时间短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83096" y="2514600"/>
            <a:ext cx="46085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· 缺乏高端餐饮：商务宴请无合适去处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83096" y="3017520"/>
            <a:ext cx="46085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· 缺乏夜游内容：天黑后古镇无吸引力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83096" y="3520440"/>
            <a:ext cx="46085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· 缺乏活动空间：企业活动、婚礼无处举办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83096" y="4023360"/>
            <a:ext cx="46085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· 缺乏文化消费：非遗、课程、雅集缺位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17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2.5 · 消费洞察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目标客群画像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340461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73352"/>
            <a:ext cx="3404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816"/>
                </a:solidFill>
              </a:rPr>
              <a:t>商务宴请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84248"/>
            <a:ext cx="30388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企业高管/商务人士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客单¥300-800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注重私密性/品质感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68068" y="2606040"/>
            <a:ext cx="914400" cy="22860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68068" y="2624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8A72"/>
                </a:solidFill>
              </a:rPr>
              <a:t>一级客群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92168" y="1508760"/>
            <a:ext cx="340461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92168" y="1673352"/>
            <a:ext cx="3404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816"/>
                </a:solidFill>
              </a:rPr>
              <a:t>品质家庭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92168" y="1984248"/>
            <a:ext cx="30388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30-50岁中产家庭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客单¥200-500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周末亲子/文化体验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37276" y="2606040"/>
            <a:ext cx="914400" cy="22860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37276" y="2624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8A72"/>
                </a:solidFill>
              </a:rPr>
              <a:t>二级客群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961376" y="1508760"/>
            <a:ext cx="340461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961376" y="1673352"/>
            <a:ext cx="3404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816"/>
                </a:solidFill>
              </a:rPr>
              <a:t>文化消费者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961376" y="1984248"/>
            <a:ext cx="30388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25-40岁都市青年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客单¥150-400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打卡传播/社交分享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206484" y="2606040"/>
            <a:ext cx="914400" cy="22860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06484" y="2624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8A72"/>
                </a:solidFill>
              </a:rPr>
              <a:t>三级客群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22960" y="3063240"/>
            <a:ext cx="340461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3227832"/>
            <a:ext cx="3404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816"/>
                </a:solidFill>
              </a:rPr>
              <a:t>企业客户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3538728"/>
            <a:ext cx="30388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团建/年会/发布会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客单¥500-1500/人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定制化需求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068068" y="4160520"/>
            <a:ext cx="914400" cy="22860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68068" y="41788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8A72"/>
                </a:solidFill>
              </a:rPr>
              <a:t>四级客群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92168" y="3063240"/>
            <a:ext cx="340461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392168" y="3227832"/>
            <a:ext cx="3404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816"/>
                </a:solidFill>
              </a:rPr>
              <a:t>婚宴客户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392168" y="3538728"/>
            <a:ext cx="30388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中式婚礼/生日宴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客单¥5000-8000/桌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古色古香场景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37276" y="4160520"/>
            <a:ext cx="914400" cy="22860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37276" y="41788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8A72"/>
                </a:solidFill>
              </a:rPr>
              <a:t>五级客群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61376" y="3063240"/>
            <a:ext cx="340461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961376" y="3227832"/>
            <a:ext cx="34046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816"/>
                </a:solidFill>
              </a:rPr>
              <a:t>会员/学员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961376" y="3538728"/>
            <a:ext cx="30388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茶道/香道/书画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年费¥3000-20000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高粘性/复购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206484" y="4160520"/>
            <a:ext cx="914400" cy="22860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06484" y="41788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8A72"/>
                </a:solidFill>
              </a:rPr>
              <a:t>六级客群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18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858000" y="274320"/>
            <a:ext cx="5029200" cy="594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0" b="1" dirty="0">
                <a:solidFill>
                  <a:srgbClr val="C23A2A">
                    <a:alpha val="12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</a:t>
            </a:r>
            <a:endParaRPr lang="en-US" sz="26000" dirty="0"/>
          </a:p>
        </p:txBody>
      </p:sp>
      <p:sp>
        <p:nvSpPr>
          <p:cNvPr id="5" name="Text 3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第三章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战略定位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5C4E3E"/>
                </a:solidFill>
              </a:rPr>
              <a:t>回答"未来十年，它应该成为什么？" 不是定义业态，而是定义使命。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19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3.1 · 使命与愿景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江南生活方式的当代复兴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5157216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54480"/>
            <a:ext cx="45720" cy="164592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664208"/>
            <a:ext cx="47000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</a:rPr>
              <a:t>使命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965960"/>
            <a:ext cx="470001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让一座百年宅邸，成为江南生活方式的当代表达。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47000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不是复刻历史，而是让传统在当代语境中重新生长。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08776" y="1554480"/>
            <a:ext cx="5157216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08776" y="1554480"/>
            <a:ext cx="45720" cy="164592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664208"/>
            <a:ext cx="47000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</a:rPr>
              <a:t>愿景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37376" y="1965960"/>
            <a:ext cx="470001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成为上海最具辨识度的历史建筑文商旅融合目的地。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37376" y="2560320"/>
            <a:ext cx="47000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十年后，提到"江南生活方式体验"，人们第一个想到梅墅。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3429000"/>
            <a:ext cx="1054303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429000"/>
            <a:ext cx="45720" cy="1371600"/>
          </a:xfrm>
          <a:prstGeom prst="rect">
            <a:avLst/>
          </a:prstGeom>
          <a:solidFill>
            <a:srgbClr val="B8944A"/>
          </a:solidFill>
          <a:ln w="6350">
            <a:solidFill>
              <a:srgbClr val="B894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8944A"/>
                </a:solidFill>
              </a:rPr>
              <a:t>定位宣言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840480"/>
            <a:ext cx="100858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南翔梅墅 = 一处历史场所 × 江南生活方式 × 文化商业平台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51560" y="4251960"/>
            <a:ext cx="100858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4E3E"/>
                </a:solidFill>
              </a:rPr>
              <a:t>不是餐厅，不是茶馆，不是文创园——而是一个"来了就不想走"的江南文化目的地。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20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3.2 · 定位体系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六维定位模型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3404616" cy="118872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600200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</a:rPr>
              <a:t>项目定位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892808"/>
            <a:ext cx="303885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历史建筑活化利用文商旅融合项目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92168" y="1508760"/>
            <a:ext cx="3404616" cy="118872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5048" y="1600200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</a:rPr>
              <a:t>品牌定位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5048" y="1892808"/>
            <a:ext cx="303885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江南生活方式体验中心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Jiangnan Living House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61376" y="1508760"/>
            <a:ext cx="3404616" cy="118872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44256" y="1600200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</a:rPr>
              <a:t>内容定位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44256" y="1892808"/>
            <a:ext cx="303885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食·茶·香·花·琴·书·器·衣·宴·礼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2834640"/>
            <a:ext cx="3404616" cy="118872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2926080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</a:rPr>
              <a:t>客群定位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218688"/>
            <a:ext cx="303885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商务宴请→品质家庭→文化消费者→企业→婚礼→会员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92168" y="2834640"/>
            <a:ext cx="3404616" cy="118872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5048" y="2926080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</a:rPr>
              <a:t>竞争定位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5048" y="3218688"/>
            <a:ext cx="303885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不与任何餐厅竞争，定义新品类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61376" y="2834640"/>
            <a:ext cx="3404616" cy="118872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44256" y="2926080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</a:rPr>
              <a:t>消费定位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44256" y="3218688"/>
            <a:ext cx="303885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中高端文化消费 · 综合客单¥260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21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3.3 · 竞争壁垒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为什么别人做不了？</a:t>
            </a:r>
            <a:endParaRPr lang="en-US" sz="27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54480"/>
          <a:ext cx="1054303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505663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资源要素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是否可复制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说明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C4E3E"/>
                          </a:solidFill>
                        </a:rPr>
                        <a:t>历史建筑 + 三进院落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23A2A"/>
                          </a:solidFill>
                        </a:rPr>
                        <a:t>❌ 不可复制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南翔古镇核心区，3600㎡院落空间，独一无二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C4E3E"/>
                          </a:solidFill>
                        </a:rPr>
                        <a:t>百年历史故事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23A2A"/>
                          </a:solidFill>
                        </a:rPr>
                        <a:t>❌ 不可复制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张志崇、王文娟事件、四重身份变迁，形成独特IP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C4E3E"/>
                          </a:solidFill>
                        </a:rPr>
                        <a:t>南翔古镇区位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23A2A"/>
                          </a:solidFill>
                        </a:rPr>
                        <a:t>❌ 不可复制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国家AAAA景区核心，毗邻檀园、双塔、云翔寺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C4E3E"/>
                          </a:solidFill>
                        </a:rPr>
                        <a:t>江南生活方式内容体系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B8944A"/>
                          </a:solidFill>
                        </a:rPr>
                        <a:t>△ 可模仿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内容可复制，但需要时间积累和运营能力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C4E3E"/>
                          </a:solidFill>
                        </a:rPr>
                        <a:t>品牌IP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4A6B3E"/>
                          </a:solidFill>
                        </a:rPr>
                        <a:t>✓ 可以建立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先发优势形成品牌壁垒，后来者需更大投入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393192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5C4E3E"/>
                </a:solidFill>
              </a:rPr>
              <a:t>真正的竞争壁垒 = Location + Heritage + Operation，三者叠加形成不可复制的护城河。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22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3.4 · 品牌架构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品牌体系：一核多翼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297680" y="1508760"/>
            <a:ext cx="3657600" cy="1188720"/>
          </a:xfrm>
          <a:prstGeom prst="rect">
            <a:avLst/>
          </a:prstGeom>
          <a:solidFill>
            <a:srgbClr val="F5EDE0"/>
          </a:solidFill>
          <a:ln w="19050">
            <a:solidFill>
              <a:srgbClr val="C23A2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0" y="1600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23A2A"/>
                </a:solidFill>
              </a:rPr>
              <a:t>核心品牌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南翔梅墅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29768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江南生活方式体验中心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2788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9C8A72"/>
                </a:solidFill>
              </a:rPr>
              <a:t>↓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3200400"/>
            <a:ext cx="3422904" cy="73152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291840"/>
            <a:ext cx="34229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816"/>
                </a:solidFill>
              </a:rPr>
              <a:t>梅墅·宴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34229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品质餐饮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3024" y="3200400"/>
            <a:ext cx="3422904" cy="73152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83024" y="3291840"/>
            <a:ext cx="34229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816"/>
                </a:solidFill>
              </a:rPr>
              <a:t>梅墅·茶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3024" y="3584448"/>
            <a:ext cx="34229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茶道体验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43088" y="3200400"/>
            <a:ext cx="3422904" cy="73152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43088" y="3291840"/>
            <a:ext cx="34229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816"/>
                </a:solidFill>
              </a:rPr>
              <a:t>梅墅·雅集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943088" y="3584448"/>
            <a:ext cx="34229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文化课程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" y="4069080"/>
            <a:ext cx="3422904" cy="73152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160520"/>
            <a:ext cx="34229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816"/>
                </a:solidFill>
              </a:rPr>
              <a:t>梅墅·礼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4453128"/>
            <a:ext cx="34229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婚礼/宴会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83024" y="4069080"/>
            <a:ext cx="3422904" cy="73152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383024" y="4160520"/>
            <a:ext cx="34229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816"/>
                </a:solidFill>
              </a:rPr>
              <a:t>梅墅·物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83024" y="4453128"/>
            <a:ext cx="34229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文创零售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943088" y="4069080"/>
            <a:ext cx="3422904" cy="73152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943088" y="4160520"/>
            <a:ext cx="34229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816"/>
                </a:solidFill>
              </a:rPr>
              <a:t>梅墅·会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943088" y="4453128"/>
            <a:ext cx="34229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会员体系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23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858000" y="274320"/>
            <a:ext cx="5029200" cy="594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0" b="1" dirty="0">
                <a:solidFill>
                  <a:srgbClr val="C23A2A">
                    <a:alpha val="12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04</a:t>
            </a:r>
            <a:endParaRPr lang="en-US" sz="26000" dirty="0"/>
          </a:p>
        </p:txBody>
      </p:sp>
      <p:sp>
        <p:nvSpPr>
          <p:cNvPr id="5" name="Text 3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第四章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总体规划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5C4E3E"/>
                </a:solidFill>
              </a:rPr>
              <a:t>基于三进院落的空间逻辑，重新建立从开放到私密、从消费到沉浸的完整体验序列。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24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4.1 · 空间规划逻辑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三进院落 · 三层体验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3441192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645920"/>
            <a:ext cx="34411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壹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255008" y="1508760"/>
            <a:ext cx="9144" cy="3017520"/>
          </a:xfrm>
          <a:prstGeom prst="rect">
            <a:avLst/>
          </a:prstGeom>
          <a:solidFill>
            <a:srgbClr val="000000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148840"/>
            <a:ext cx="34411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A1816"/>
                </a:solidFill>
              </a:rPr>
              <a:t>一进院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468880"/>
            <a:ext cx="34411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开放体验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926080"/>
            <a:ext cx="30754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游客中心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3218688"/>
            <a:ext cx="30754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文创零售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3511296"/>
            <a:ext cx="30754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咖啡/茶饮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30754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打卡拍照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5840" y="4096512"/>
            <a:ext cx="30754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历史展示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05840" y="4251960"/>
            <a:ext cx="1097280" cy="27432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2793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8A72"/>
                </a:solidFill>
              </a:rPr>
              <a:t>免费开放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73880" y="1508760"/>
            <a:ext cx="3441192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56760" y="1645920"/>
            <a:ext cx="34411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贰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7805928" y="1508760"/>
            <a:ext cx="9144" cy="3017520"/>
          </a:xfrm>
          <a:prstGeom prst="rect">
            <a:avLst/>
          </a:prstGeom>
          <a:solidFill>
            <a:srgbClr val="000000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56760" y="2148840"/>
            <a:ext cx="34411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A1816"/>
                </a:solidFill>
              </a:rPr>
              <a:t>二进院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56760" y="2468880"/>
            <a:ext cx="34411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文化沉浸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56760" y="2926080"/>
            <a:ext cx="30754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非遗展览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56760" y="3218688"/>
            <a:ext cx="30754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茶道体验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56760" y="3511296"/>
            <a:ext cx="30754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香道花道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56760" y="3803904"/>
            <a:ext cx="30754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雅集课程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56760" y="4096512"/>
            <a:ext cx="30754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艺术展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56760" y="4251960"/>
            <a:ext cx="1097280" cy="27432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8200" y="42793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8A72"/>
                </a:solidFill>
              </a:rPr>
              <a:t>消费体验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924800" y="1508760"/>
            <a:ext cx="3441192" cy="3017520"/>
          </a:xfrm>
          <a:prstGeom prst="rect">
            <a:avLst/>
          </a:prstGeom>
          <a:solidFill>
            <a:srgbClr val="F5EDE0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24800" y="1508760"/>
            <a:ext cx="45720" cy="301752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07680" y="1645920"/>
            <a:ext cx="34411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叁</a:t>
            </a:r>
            <a:endParaRPr lang="en-US" sz="3600" dirty="0"/>
          </a:p>
        </p:txBody>
      </p:sp>
      <p:sp>
        <p:nvSpPr>
          <p:cNvPr id="33" name="Shape 31"/>
          <p:cNvSpPr/>
          <p:nvPr/>
        </p:nvSpPr>
        <p:spPr>
          <a:xfrm>
            <a:off x="11356848" y="1508760"/>
            <a:ext cx="9144" cy="3017520"/>
          </a:xfrm>
          <a:prstGeom prst="rect">
            <a:avLst/>
          </a:prstGeom>
          <a:solidFill>
            <a:srgbClr val="000000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07680" y="2148840"/>
            <a:ext cx="34411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A1816"/>
                </a:solidFill>
              </a:rPr>
              <a:t>三进院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107680" y="2468880"/>
            <a:ext cx="34411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私享空间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107680" y="2926080"/>
            <a:ext cx="30754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会员雅集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107680" y="3218688"/>
            <a:ext cx="30754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高端宴席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107680" y="3511296"/>
            <a:ext cx="30754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企业活动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107680" y="3803904"/>
            <a:ext cx="30754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中式婚礼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107680" y="4096512"/>
            <a:ext cx="30754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私人定制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107680" y="4251960"/>
            <a:ext cx="1097280" cy="27432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99120" y="42793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8A72"/>
                </a:solidFill>
              </a:rPr>
              <a:t>预约制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22960" y="470916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C4E3E"/>
                </a:solidFill>
              </a:rPr>
              <a:t>空间逻辑：越来越安静 → 越来越私密 → 越来越高客单。从流量入口到利润中心，三进院落自然形成消费漏斗。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25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4.2 · 一进院 · 开放体验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游客入口 · 流量转化第一站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5180076" cy="621792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581912"/>
            <a:ext cx="48143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23A2A"/>
                </a:solidFill>
              </a:rPr>
              <a:t>游客中心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837944"/>
            <a:ext cx="48143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导览服务、历史介绍、活动预约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85916" y="1508760"/>
            <a:ext cx="5180076" cy="621792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68796" y="1581912"/>
            <a:ext cx="48143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23A2A"/>
                </a:solidFill>
              </a:rPr>
              <a:t>梅墅文创商店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68796" y="1837944"/>
            <a:ext cx="48143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原创设计、非遗衍生品、伴手礼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2221992"/>
            <a:ext cx="5180076" cy="621792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2295144"/>
            <a:ext cx="48143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23A2A"/>
                </a:solidFill>
              </a:rPr>
              <a:t>庭院咖啡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551176"/>
            <a:ext cx="48143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江南庭院式下午茶，客单¥60-120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85916" y="2221992"/>
            <a:ext cx="5180076" cy="621792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68796" y="2295144"/>
            <a:ext cx="48143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23A2A"/>
                </a:solidFill>
              </a:rPr>
              <a:t>历史展示墙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68796" y="2551176"/>
            <a:ext cx="48143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梅墅百年变迁时间轴，王文娟事件互动展示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2935224"/>
            <a:ext cx="5180076" cy="621792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05840" y="3008376"/>
            <a:ext cx="48143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23A2A"/>
                </a:solidFill>
              </a:rPr>
              <a:t>打卡装置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264408"/>
            <a:ext cx="48143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设计感拍照点，引导社交传播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85916" y="2935224"/>
            <a:ext cx="5180076" cy="621792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68796" y="3008376"/>
            <a:ext cx="48143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23A2A"/>
                </a:solidFill>
              </a:rPr>
              <a:t>茶文化展示区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68796" y="3264408"/>
            <a:ext cx="48143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陆廷灿茶文化主题展，免费参观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" y="3886200"/>
            <a:ext cx="1054303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3886200"/>
            <a:ext cx="45720" cy="64008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3959352"/>
            <a:ext cx="100858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C4E3E"/>
                </a:solidFill>
              </a:rPr>
              <a:t>策略：一进院免费开放，承担"吸引进店→建立认知→引导消费"的漏斗入口功能，转化率目标15-20%。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26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4.3 · 二进院 · 文化沉浸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文化体验的核心场景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340461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08760"/>
            <a:ext cx="45720" cy="128016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00200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1816"/>
                </a:solidFill>
              </a:rPr>
              <a:t>非遗工坊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1892808"/>
            <a:ext cx="30388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嘉定11项非遗文化展示与体验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竹刻、草编、南翔小笼制作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92168" y="1508760"/>
            <a:ext cx="340461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92168" y="1508760"/>
            <a:ext cx="45720" cy="128016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5048" y="1600200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1816"/>
                </a:solidFill>
              </a:rPr>
              <a:t>茶空间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5048" y="1892808"/>
            <a:ext cx="30388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六大茶类品鉴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原产地茶叶直供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茶道课程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61376" y="1508760"/>
            <a:ext cx="340461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61376" y="1508760"/>
            <a:ext cx="45720" cy="128016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44256" y="1600200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1816"/>
                </a:solidFill>
              </a:rPr>
              <a:t>香道/花道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144256" y="1892808"/>
            <a:ext cx="30388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传统香道体验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四季花艺课程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沉浸式感官体验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2926080"/>
            <a:ext cx="340461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2926080"/>
            <a:ext cx="45720" cy="128016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017520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1816"/>
                </a:solidFill>
              </a:rPr>
              <a:t>艺术展厅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05840" y="3310128"/>
            <a:ext cx="30388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国内外艺术家驻留创作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陶瓷/绘画/雕塑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季度主题展览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92168" y="2926080"/>
            <a:ext cx="340461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92168" y="2926080"/>
            <a:ext cx="45720" cy="128016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5048" y="3017520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1816"/>
                </a:solidFill>
              </a:rPr>
              <a:t>雅集空间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5048" y="3310128"/>
            <a:ext cx="30388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书画/国学/琴棋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小型文化沙龙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读书会/分享会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61376" y="2926080"/>
            <a:ext cx="340461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961376" y="2926080"/>
            <a:ext cx="45720" cy="128016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44256" y="3017520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1816"/>
                </a:solidFill>
              </a:rPr>
              <a:t>文创实验室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144256" y="3310128"/>
            <a:ext cx="30388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原创设计开发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品牌联名合作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限量发售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27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4.4 · 三进院 · 私享空间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高端私享 · 利润中心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5180076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08760"/>
            <a:ext cx="45720" cy="1600200"/>
          </a:xfrm>
          <a:prstGeom prst="rect">
            <a:avLst/>
          </a:prstGeom>
          <a:solidFill>
            <a:srgbClr val="B8944A"/>
          </a:solidFill>
          <a:ln w="6350">
            <a:solidFill>
              <a:srgbClr val="B89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618488"/>
            <a:ext cx="47228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8944A"/>
                </a:solidFill>
              </a:rPr>
              <a:t>品质餐饮包厢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920240"/>
            <a:ext cx="47228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15间雅包，以《岕茶笺》十三茶境和南翔十八景命名。江南庭院景观包厢，米其林级别茶宴菜。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51560" y="2788920"/>
            <a:ext cx="1554480" cy="237744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8072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8A72"/>
                </a:solidFill>
              </a:rPr>
              <a:t>人均¥300-800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97480" y="2788920"/>
            <a:ext cx="1554480" cy="237744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28072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8A72"/>
                </a:solidFill>
              </a:rPr>
              <a:t>预约制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85916" y="1508760"/>
            <a:ext cx="5180076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85916" y="1508760"/>
            <a:ext cx="45720" cy="1600200"/>
          </a:xfrm>
          <a:prstGeom prst="rect">
            <a:avLst/>
          </a:prstGeom>
          <a:solidFill>
            <a:srgbClr val="B8944A"/>
          </a:solidFill>
          <a:ln w="6350">
            <a:solidFill>
              <a:srgbClr val="B894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4516" y="1618488"/>
            <a:ext cx="47228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8944A"/>
                </a:solidFill>
              </a:rPr>
              <a:t>宴会厅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4516" y="1920240"/>
            <a:ext cx="47228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大宴会厅17桌 + 小宴会厅8桌，最大承接45桌。中式婚礼、企业年会、品牌发布会。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14516" y="2788920"/>
            <a:ext cx="1554480" cy="237744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5956" y="28072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8A72"/>
                </a:solidFill>
              </a:rPr>
              <a:t>¥5000-8000/桌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060436" y="2788920"/>
            <a:ext cx="1554480" cy="237744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51876" y="28072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8A72"/>
                </a:solidFill>
              </a:rPr>
              <a:t>全年180场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22960" y="3273552"/>
            <a:ext cx="5180076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3273552"/>
            <a:ext cx="45720" cy="1600200"/>
          </a:xfrm>
          <a:prstGeom prst="rect">
            <a:avLst/>
          </a:prstGeom>
          <a:solidFill>
            <a:srgbClr val="B8944A"/>
          </a:solidFill>
          <a:ln w="6350">
            <a:solidFill>
              <a:srgbClr val="B894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3383280"/>
            <a:ext cx="47228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8944A"/>
                </a:solidFill>
              </a:rPr>
              <a:t>会员专属空间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3685032"/>
            <a:ext cx="47228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私人茶室、藏书院、会员休息室。年费制，提供专属活动和定制服务。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51560" y="4553712"/>
            <a:ext cx="1554480" cy="237744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45720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8A72"/>
                </a:solidFill>
              </a:rPr>
              <a:t>年费¥3000-20000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697480" y="4553712"/>
            <a:ext cx="1554480" cy="237744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88920" y="45720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8A72"/>
                </a:solidFill>
              </a:rPr>
              <a:t>目标1500人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85916" y="3273552"/>
            <a:ext cx="5180076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85916" y="3273552"/>
            <a:ext cx="45720" cy="1600200"/>
          </a:xfrm>
          <a:prstGeom prst="rect">
            <a:avLst/>
          </a:prstGeom>
          <a:solidFill>
            <a:srgbClr val="B8944A"/>
          </a:solidFill>
          <a:ln w="6350">
            <a:solidFill>
              <a:srgbClr val="B894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14516" y="3383280"/>
            <a:ext cx="47228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8944A"/>
                </a:solidFill>
              </a:rPr>
              <a:t>企业活动空间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14516" y="3685032"/>
            <a:ext cx="47228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团建、董事会、产品发布、客户答谢。古色古香环境+定制化服务。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14516" y="4553712"/>
            <a:ext cx="1554480" cy="237744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05956" y="45720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8A72"/>
                </a:solidFill>
              </a:rPr>
              <a:t>¥500-1500/人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060436" y="4553712"/>
            <a:ext cx="1554480" cy="237744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51876" y="45720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8A72"/>
                </a:solidFill>
              </a:rPr>
              <a:t>全年120+场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28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4.5 · 功能布局总览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空间功能分配</a:t>
            </a:r>
            <a:endParaRPr lang="en-US" sz="27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54480"/>
          <a:ext cx="1054303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4114800"/>
                <a:gridCol w="1645920"/>
                <a:gridCol w="176479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区域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面积占比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核心功能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开放方式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收入贡献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C4E3E"/>
                          </a:solidFill>
                        </a:rPr>
                        <a:t>一进院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约20%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游客中心、文创、咖啡、历史展示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免费开放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5-8%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C4E3E"/>
                          </a:solidFill>
                        </a:rPr>
                        <a:t>二进院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约35%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非遗、茶道、香道、展览、课程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消费体验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15-20%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C4E3E"/>
                          </a:solidFill>
                        </a:rPr>
                        <a:t>三进院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约35%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餐饮包厢、宴会厅、会员空间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预约制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23A2A"/>
                          </a:solidFill>
                        </a:rPr>
                        <a:t>65-70%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C4E3E"/>
                          </a:solidFill>
                        </a:rPr>
                        <a:t>后勤/庭院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约10%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厨房、仓储、办公、庭院景观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29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4.6 · 动线设计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客户旅程：从进入到复购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280160" y="1645920"/>
            <a:ext cx="1645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1737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A1816"/>
                </a:solidFill>
              </a:rPr>
              <a:t>进入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8A72"/>
                </a:solidFill>
              </a:rPr>
              <a:t>一进院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C23A2A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1645920"/>
            <a:ext cx="1645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737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A1816"/>
                </a:solidFill>
              </a:rPr>
              <a:t>沉浸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8A72"/>
                </a:solidFill>
              </a:rPr>
              <a:t>二进院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C23A2A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0" y="1645920"/>
            <a:ext cx="1645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0" y="1737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A1816"/>
                </a:solidFill>
              </a:rPr>
              <a:t>消费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0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8A72"/>
                </a:solidFill>
              </a:rPr>
              <a:t>三进院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C23A2A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589520" y="1645920"/>
            <a:ext cx="1645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589520" y="1737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A1816"/>
                </a:solidFill>
              </a:rPr>
              <a:t>分享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589520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8A72"/>
                </a:solidFill>
              </a:rPr>
              <a:t>社交媒体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2354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C23A2A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692640" y="1645920"/>
            <a:ext cx="1645920" cy="914400"/>
          </a:xfrm>
          <a:prstGeom prst="rect">
            <a:avLst/>
          </a:prstGeom>
          <a:solidFill>
            <a:srgbClr val="F5EDE0"/>
          </a:solidFill>
          <a:ln w="19050">
            <a:solidFill>
              <a:srgbClr val="C23A2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92640" y="1737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23A2A"/>
                </a:solidFill>
              </a:rPr>
              <a:t>复购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92640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8A72"/>
                </a:solidFill>
              </a:rPr>
              <a:t>会员/活动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" y="3200400"/>
            <a:ext cx="3331464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" y="3383280"/>
            <a:ext cx="33314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15-20%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822960" y="3977640"/>
            <a:ext cx="33314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8A72"/>
                </a:solidFill>
              </a:rPr>
              <a:t>进店转化率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28744" y="3200400"/>
            <a:ext cx="3331464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428744" y="3383280"/>
            <a:ext cx="33314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¥260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4428744" y="3977640"/>
            <a:ext cx="33314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8A72"/>
                </a:solidFill>
              </a:rPr>
              <a:t>综合客单价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34528" y="3200400"/>
            <a:ext cx="3331464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034528" y="3383280"/>
            <a:ext cx="33314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3次+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8034528" y="3977640"/>
            <a:ext cx="33314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8A72"/>
                </a:solidFill>
              </a:rPr>
              <a:t>年复购目标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30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4.7 · 改造策略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历史建筑活化的"轻改造"原则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5157216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08760"/>
            <a:ext cx="45720" cy="155448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00200"/>
            <a:ext cx="47914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23A2A"/>
                </a:solidFill>
              </a:rPr>
              <a:t>保留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892808"/>
            <a:ext cx="479145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4E3E"/>
                </a:solidFill>
              </a:rPr>
              <a:t>三进院落格局、中轴布局、回廊系统、天井、庭院植物、雕花门楼等历史要素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08776" y="1508760"/>
            <a:ext cx="5157216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08776" y="1508760"/>
            <a:ext cx="45720" cy="155448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91656" y="1600200"/>
            <a:ext cx="47914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23A2A"/>
                </a:solidFill>
              </a:rPr>
              <a:t>更新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91656" y="1892808"/>
            <a:ext cx="479145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4E3E"/>
                </a:solidFill>
              </a:rPr>
              <a:t>机电系统、厨房设备、灯光音响、智慧管理系统、无障碍设施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200400"/>
            <a:ext cx="5157216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200400"/>
            <a:ext cx="45720" cy="155448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291840"/>
            <a:ext cx="47914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23A2A"/>
                </a:solidFill>
              </a:rPr>
              <a:t>添加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584448"/>
            <a:ext cx="479145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4E3E"/>
                </a:solidFill>
              </a:rPr>
              <a:t>展陈系统、数字互动装置、景观灯光、艺术装置、打卡点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08776" y="3200400"/>
            <a:ext cx="5157216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3200400"/>
            <a:ext cx="45720" cy="155448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91656" y="3291840"/>
            <a:ext cx="47914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23A2A"/>
                </a:solidFill>
              </a:rPr>
              <a:t>移除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91656" y="3584448"/>
            <a:ext cx="479145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4E3E"/>
                </a:solidFill>
              </a:rPr>
              <a:t>过度商业化的装饰、与历史风貌不协调的元素、冗余隔断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31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858000" y="274320"/>
            <a:ext cx="5029200" cy="594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0" b="1" dirty="0">
                <a:solidFill>
                  <a:srgbClr val="C23A2A">
                    <a:alpha val="12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05</a:t>
            </a:r>
            <a:endParaRPr lang="en-US" sz="26000" dirty="0"/>
          </a:p>
        </p:txBody>
      </p:sp>
      <p:sp>
        <p:nvSpPr>
          <p:cNvPr id="5" name="Text 3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第五章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产品体系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5C4E3E"/>
                </a:solidFill>
              </a:rPr>
              <a:t>十种生活方式，不是十个品牌，而是一个完整的江南生活体验闭环。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32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5.1 · 产品矩阵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十种江南生活方式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1998878" cy="123444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45920"/>
            <a:ext cx="199887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食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18159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C4E3E"/>
                </a:solidFill>
              </a:rPr>
              <a:t>茶宴菜 · 港式午茶 · 时令菜单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58998" y="1508760"/>
            <a:ext cx="1998878" cy="123444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58998" y="1645920"/>
            <a:ext cx="199887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茶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958998" y="2057400"/>
            <a:ext cx="18159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C4E3E"/>
                </a:solidFill>
              </a:rPr>
              <a:t>六大茶类 · 茶道课程 · 茶文化展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95037" y="1508760"/>
            <a:ext cx="1998878" cy="123444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95037" y="1645920"/>
            <a:ext cx="199887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香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95037" y="2057400"/>
            <a:ext cx="18159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C4E3E"/>
                </a:solidFill>
              </a:rPr>
              <a:t>传统香道 · 香料品鉴 · 调香体验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231075" y="1508760"/>
            <a:ext cx="1998878" cy="123444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31075" y="1645920"/>
            <a:ext cx="199887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花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231075" y="2057400"/>
            <a:ext cx="18159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C4E3E"/>
                </a:solidFill>
              </a:rPr>
              <a:t>四季花艺 · 庭院花展 · 花道课程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367114" y="1508760"/>
            <a:ext cx="1998878" cy="123444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367114" y="1645920"/>
            <a:ext cx="199887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琴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367114" y="2057400"/>
            <a:ext cx="18159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C4E3E"/>
                </a:solidFill>
              </a:rPr>
              <a:t>古琴/昆曲/越剧 · 小型演出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22960" y="2880360"/>
            <a:ext cx="1998878" cy="123444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3017520"/>
            <a:ext cx="199887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22960" y="3429000"/>
            <a:ext cx="18159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C4E3E"/>
                </a:solidFill>
              </a:rPr>
              <a:t>国学课堂 · 书画体验 · 读书会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58998" y="2880360"/>
            <a:ext cx="1998878" cy="123444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958998" y="3017520"/>
            <a:ext cx="199887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器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2958998" y="3429000"/>
            <a:ext cx="18159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C4E3E"/>
                </a:solidFill>
              </a:rPr>
              <a:t>陶瓷 · 器物 · 非遗手作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95037" y="2880360"/>
            <a:ext cx="1998878" cy="123444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95037" y="3017520"/>
            <a:ext cx="199887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衣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095037" y="3429000"/>
            <a:ext cx="18159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C4E3E"/>
                </a:solidFill>
              </a:rPr>
              <a:t>汉服体验 · 传统服饰展示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231075" y="2880360"/>
            <a:ext cx="1998878" cy="123444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231075" y="3017520"/>
            <a:ext cx="199887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宴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231075" y="3429000"/>
            <a:ext cx="18159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C4E3E"/>
                </a:solidFill>
              </a:rPr>
              <a:t>中式婚宴 · 生日宴 · 企业宴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367114" y="2880360"/>
            <a:ext cx="1998878" cy="123444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367114" y="3017520"/>
            <a:ext cx="199887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礼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9367114" y="3429000"/>
            <a:ext cx="18159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C4E3E"/>
                </a:solidFill>
              </a:rPr>
              <a:t>伴手礼 · 定制礼盒 · 品牌联名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33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5.2 · 餐饮体系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三层餐饮架构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3361944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737360"/>
            <a:ext cx="29047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23A2A"/>
                </a:solidFill>
              </a:rPr>
              <a:t>港式午茶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2103120"/>
            <a:ext cx="290474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150" dirty="0">
                <a:solidFill>
                  <a:srgbClr val="5C4E3E"/>
                </a:solidFill>
              </a:rPr>
              <a:t>上午10:00-下午14:00</a:t>
            </a:r>
            <a:endParaRPr lang="en-US" sz="11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50" dirty="0">
                <a:solidFill>
                  <a:srgbClr val="5C4E3E"/>
                </a:solidFill>
              </a:rPr>
              <a:t>五彩虾饺、菠萝包</a:t>
            </a:r>
            <a:endParaRPr lang="en-US" sz="11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50" dirty="0">
                <a:solidFill>
                  <a:srgbClr val="5C4E3E"/>
                </a:solidFill>
              </a:rPr>
              <a:t>客单¥80-150</a:t>
            </a:r>
            <a:endParaRPr lang="en-US" sz="11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50" dirty="0">
                <a:solidFill>
                  <a:srgbClr val="5C4E3E"/>
                </a:solidFill>
              </a:rPr>
              <a:t>翻台率1.8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51560" y="3931920"/>
            <a:ext cx="1371600" cy="27432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95935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8A72"/>
                </a:solidFill>
              </a:rPr>
              <a:t>流量层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13504" y="1554480"/>
            <a:ext cx="3361944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13504" y="1554480"/>
            <a:ext cx="45720" cy="292608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2104" y="1737360"/>
            <a:ext cx="29047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23A2A"/>
                </a:solidFill>
              </a:rPr>
              <a:t>茶宴菜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42104" y="2103120"/>
            <a:ext cx="290474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150" dirty="0">
                <a:solidFill>
                  <a:srgbClr val="5C4E3E"/>
                </a:solidFill>
              </a:rPr>
              <a:t>午市+晚市</a:t>
            </a:r>
            <a:endParaRPr lang="en-US" sz="11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50" dirty="0">
                <a:solidFill>
                  <a:srgbClr val="5C4E3E"/>
                </a:solidFill>
              </a:rPr>
              <a:t>六大茶类入菜</a:t>
            </a:r>
            <a:endParaRPr lang="en-US" sz="11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50" dirty="0">
                <a:solidFill>
                  <a:srgbClr val="5C4E3E"/>
                </a:solidFill>
              </a:rPr>
              <a:t>客单¥260-500</a:t>
            </a:r>
            <a:endParaRPr lang="en-US" sz="11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50" dirty="0">
                <a:solidFill>
                  <a:srgbClr val="5C4E3E"/>
                </a:solidFill>
              </a:rPr>
              <a:t>翻台率1.6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42104" y="3931920"/>
            <a:ext cx="1371600" cy="27432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3544" y="395935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8A72"/>
                </a:solidFill>
              </a:rPr>
              <a:t>利润层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04048" y="1554480"/>
            <a:ext cx="3361944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04048" y="1554480"/>
            <a:ext cx="45720" cy="2926080"/>
          </a:xfrm>
          <a:prstGeom prst="rect">
            <a:avLst/>
          </a:prstGeom>
          <a:solidFill>
            <a:srgbClr val="B8944A"/>
          </a:solidFill>
          <a:ln w="6350">
            <a:solidFill>
              <a:srgbClr val="B894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32648" y="1737360"/>
            <a:ext cx="29047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B8944A"/>
                </a:solidFill>
              </a:rPr>
              <a:t>定制私宴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32648" y="2103120"/>
            <a:ext cx="290474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150" dirty="0">
                <a:solidFill>
                  <a:srgbClr val="5C4E3E"/>
                </a:solidFill>
              </a:rPr>
              <a:t>预约制</a:t>
            </a:r>
            <a:endParaRPr lang="en-US" sz="11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50" dirty="0">
                <a:solidFill>
                  <a:srgbClr val="5C4E3E"/>
                </a:solidFill>
              </a:rPr>
              <a:t>米其林级别主厨</a:t>
            </a:r>
            <a:endParaRPr lang="en-US" sz="11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50" dirty="0">
                <a:solidFill>
                  <a:srgbClr val="5C4E3E"/>
                </a:solidFill>
              </a:rPr>
              <a:t>客单¥500-1500</a:t>
            </a:r>
            <a:endParaRPr lang="en-US" sz="11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50" dirty="0">
                <a:solidFill>
                  <a:srgbClr val="5C4E3E"/>
                </a:solidFill>
              </a:rPr>
              <a:t>每日限3席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32648" y="3931920"/>
            <a:ext cx="1371600" cy="27432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4088" y="395935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8A72"/>
                </a:solidFill>
              </a:rPr>
              <a:t>品牌层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34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5.3 · 全年活动日历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二十四节气 × 江南四雅</a:t>
            </a:r>
            <a:endParaRPr lang="en-US" sz="27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54480"/>
          <a:ext cx="1054303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114800"/>
                <a:gridCol w="2286000"/>
                <a:gridCol w="322783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季节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节气活动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雅集主题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展览/演出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C4E3E"/>
                          </a:solidFill>
                        </a:rPr>
                        <a:t>春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立春茶会 · 清明茶祭 · 谷雨花会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春茶品鉴 · 花道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春季陶瓷展 · 昆曲雅集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C4E3E"/>
                          </a:solidFill>
                        </a:rPr>
                        <a:t>夏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端午香囊 · 大暑纳凉 · 七夕乞巧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香道 · 琴会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夏季书画展 · 越剧专场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C4E3E"/>
                          </a:solidFill>
                        </a:rPr>
                        <a:t>秋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中秋拜月 · 重阳敬老 · 霜降菊会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茶道 · 器物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秋季雕塑展 · 古琴音乐会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C4E3E"/>
                          </a:solidFill>
                        </a:rPr>
                        <a:t>冬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冬至雅集 · 腊八施粥 · 春节庙会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国学 · 书法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冬季非遗展 · 新春灯会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361188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C4E3E"/>
                </a:solidFill>
              </a:rPr>
              <a:t>全年活动逻辑：节气活动引流 → 雅集课程转化 → 展览演出提升品牌，形成"月月有主题、周周有活动"的内容节奏。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35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5.4 · 会员体系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三级会员制度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3331464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83080"/>
            <a:ext cx="3331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C23A2A"/>
                </a:solidFill>
              </a:rPr>
              <a:t>雅客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33314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¥3,000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33314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8A72"/>
                </a:solidFill>
              </a:rPr>
              <a:t>年费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3108960"/>
            <a:ext cx="278282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· 全年茶室使用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3456432"/>
            <a:ext cx="278282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· 每月1次雅集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3803904"/>
            <a:ext cx="278282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· 消费9折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4151376"/>
            <a:ext cx="278282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· 生日礼遇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28744" y="1554480"/>
            <a:ext cx="3331464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28744" y="1554480"/>
            <a:ext cx="45720" cy="301752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28744" y="1783080"/>
            <a:ext cx="3331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C23A2A"/>
                </a:solidFill>
              </a:rPr>
              <a:t>雅士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28744" y="2148840"/>
            <a:ext cx="33314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¥8,000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428744" y="2697480"/>
            <a:ext cx="33314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8A72"/>
                </a:solidFill>
              </a:rPr>
              <a:t>年费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94504" y="3108960"/>
            <a:ext cx="278282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· 雅客全部权益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94504" y="3456432"/>
            <a:ext cx="278282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· 每月2次课程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94504" y="3803904"/>
            <a:ext cx="278282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· 消费8折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94504" y="4151376"/>
            <a:ext cx="278282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· 专属活动邀请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34528" y="1554480"/>
            <a:ext cx="3331464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34528" y="1554480"/>
            <a:ext cx="45720" cy="3017520"/>
          </a:xfrm>
          <a:prstGeom prst="rect">
            <a:avLst/>
          </a:prstGeom>
          <a:solidFill>
            <a:srgbClr val="B8944A"/>
          </a:solidFill>
          <a:ln w="6350">
            <a:solidFill>
              <a:srgbClr val="B894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34528" y="1783080"/>
            <a:ext cx="3331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B8944A"/>
                </a:solidFill>
              </a:rPr>
              <a:t>雅集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034528" y="2148840"/>
            <a:ext cx="33314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¥20,000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8034528" y="2697480"/>
            <a:ext cx="33314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8A72"/>
                </a:solidFill>
              </a:rPr>
              <a:t>年费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00288" y="3108960"/>
            <a:ext cx="278282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· 雅士全部权益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00288" y="3456432"/>
            <a:ext cx="278282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· 私人茶室使用权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00288" y="3803904"/>
            <a:ext cx="278282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· 定制私宴1次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00288" y="4151376"/>
            <a:ext cx="278282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· 艺术家见面会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36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858000" y="274320"/>
            <a:ext cx="5029200" cy="594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0" b="1" dirty="0">
                <a:solidFill>
                  <a:srgbClr val="C23A2A">
                    <a:alpha val="12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06</a:t>
            </a:r>
            <a:endParaRPr lang="en-US" sz="26000" dirty="0"/>
          </a:p>
        </p:txBody>
      </p:sp>
      <p:sp>
        <p:nvSpPr>
          <p:cNvPr id="5" name="Text 3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第六章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商业模型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5C4E3E"/>
                </a:solidFill>
              </a:rPr>
              <a:t>多元收入结构，八条收入线，任何一项收入下降，项目都不会死亡。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37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6.1 · 收入模型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八大收入线</a:t>
            </a:r>
            <a:endParaRPr lang="en-US" sz="27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08760"/>
          <a:ext cx="1054303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2286000"/>
                <a:gridCol w="505663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收入来源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占比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年度收入（基准）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测算逻辑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C4E3E"/>
                          </a:solidFill>
                        </a:rPr>
                        <a:t>品质餐饮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2,600万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日均300人 × ¥260 × 330天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C4E3E"/>
                          </a:solidFill>
                        </a:rPr>
                        <a:t>宴会婚礼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1,300万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180场 × 均价¥72,000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C4E3E"/>
                          </a:solidFill>
                        </a:rPr>
                        <a:t>企业活动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10%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650万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120场 × 均价¥54,000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C4E3E"/>
                          </a:solidFill>
                        </a:rPr>
                        <a:t>会员体系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8%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520万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1,500人 × 均价¥3,500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C4E3E"/>
                          </a:solidFill>
                        </a:rPr>
                        <a:t>文化课程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6%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390万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600场/年 × 均价¥650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C4E3E"/>
                          </a:solidFill>
                        </a:rPr>
                        <a:t>文创零售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6%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390万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日均¥11,800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C4E3E"/>
                          </a:solidFill>
                        </a:rPr>
                        <a:t>场地租赁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5%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325万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品牌快闪/拍摄/活动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C4E3E"/>
                          </a:solidFill>
                        </a:rPr>
                        <a:t>品牌合作/IP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5%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325万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联名/授权/政府合作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23A2A"/>
                          </a:solidFill>
                        </a:rPr>
                        <a:t>合计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C4E3E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23A2A"/>
                          </a:solidFill>
                        </a:rPr>
                        <a:t>6,500万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38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6.2 · 成本结构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OPEX 运营成本模型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5647792" cy="438912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545336"/>
            <a:ext cx="282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816"/>
                </a:solidFill>
              </a:rPr>
              <a:t>食材成本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46856" y="1545336"/>
            <a:ext cx="11295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1816"/>
                </a:solidFill>
              </a:rPr>
              <a:t>27%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89370" y="1664208"/>
            <a:ext cx="1411948" cy="128016"/>
          </a:xfrm>
          <a:prstGeom prst="rect">
            <a:avLst/>
          </a:prstGeom>
          <a:solidFill>
            <a:srgbClr val="E5DCC8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89370" y="1664208"/>
            <a:ext cx="1270753" cy="128016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011680"/>
            <a:ext cx="5647792" cy="438912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2048256"/>
            <a:ext cx="282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816"/>
                </a:solidFill>
              </a:rPr>
              <a:t>人工成本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46856" y="2048256"/>
            <a:ext cx="11295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1816"/>
                </a:solidFill>
              </a:rPr>
              <a:t>21%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89370" y="2167128"/>
            <a:ext cx="1411948" cy="128016"/>
          </a:xfrm>
          <a:prstGeom prst="rect">
            <a:avLst/>
          </a:prstGeom>
          <a:solidFill>
            <a:srgbClr val="E5DCC8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89370" y="2167128"/>
            <a:ext cx="988364" cy="128016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2514600"/>
            <a:ext cx="5647792" cy="438912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2551176"/>
            <a:ext cx="282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816"/>
                </a:solidFill>
              </a:rPr>
              <a:t>折旧摊销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46856" y="2551176"/>
            <a:ext cx="11295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1816"/>
                </a:solidFill>
              </a:rPr>
              <a:t>7%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89370" y="2670048"/>
            <a:ext cx="1411948" cy="128016"/>
          </a:xfrm>
          <a:prstGeom prst="rect">
            <a:avLst/>
          </a:prstGeom>
          <a:solidFill>
            <a:srgbClr val="E5DCC8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89370" y="2670048"/>
            <a:ext cx="329455" cy="128016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3017520"/>
            <a:ext cx="5647792" cy="438912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" y="3054096"/>
            <a:ext cx="282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816"/>
                </a:solidFill>
              </a:rPr>
              <a:t>物业及能源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46856" y="3054096"/>
            <a:ext cx="11295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1816"/>
                </a:solidFill>
              </a:rPr>
              <a:t>7%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89370" y="3172968"/>
            <a:ext cx="1411948" cy="128016"/>
          </a:xfrm>
          <a:prstGeom prst="rect">
            <a:avLst/>
          </a:prstGeom>
          <a:solidFill>
            <a:srgbClr val="E5DCC8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89370" y="3172968"/>
            <a:ext cx="329455" cy="128016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3520440"/>
            <a:ext cx="5647792" cy="438912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60120" y="3557016"/>
            <a:ext cx="282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816"/>
                </a:solidFill>
              </a:rPr>
              <a:t>行政管理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46856" y="3557016"/>
            <a:ext cx="11295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1816"/>
                </a:solidFill>
              </a:rPr>
              <a:t>4%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89370" y="3675888"/>
            <a:ext cx="1411948" cy="128016"/>
          </a:xfrm>
          <a:prstGeom prst="rect">
            <a:avLst/>
          </a:prstGeom>
          <a:solidFill>
            <a:srgbClr val="E5DCC8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89370" y="3675888"/>
            <a:ext cx="188260" cy="128016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" y="4023360"/>
            <a:ext cx="5647792" cy="438912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60120" y="4059936"/>
            <a:ext cx="282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816"/>
                </a:solidFill>
              </a:rPr>
              <a:t>营销推广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646856" y="4059936"/>
            <a:ext cx="11295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1816"/>
                </a:solidFill>
              </a:rPr>
              <a:t>4%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89370" y="4178808"/>
            <a:ext cx="1411948" cy="128016"/>
          </a:xfrm>
          <a:prstGeom prst="rect">
            <a:avLst/>
          </a:prstGeom>
          <a:solidFill>
            <a:srgbClr val="E5DCC8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89370" y="4178808"/>
            <a:ext cx="188260" cy="128016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" y="4526280"/>
            <a:ext cx="5647792" cy="438912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60120" y="4562856"/>
            <a:ext cx="282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816"/>
                </a:solidFill>
              </a:rPr>
              <a:t>活动运营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646856" y="4562856"/>
            <a:ext cx="11295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1816"/>
                </a:solidFill>
              </a:rPr>
              <a:t>3%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89370" y="4681728"/>
            <a:ext cx="1411948" cy="128016"/>
          </a:xfrm>
          <a:prstGeom prst="rect">
            <a:avLst/>
          </a:prstGeom>
          <a:solidFill>
            <a:srgbClr val="E5DCC8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89370" y="4681728"/>
            <a:ext cx="141195" cy="128016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2960" y="5029200"/>
            <a:ext cx="5647792" cy="438912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60120" y="5065776"/>
            <a:ext cx="282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816"/>
                </a:solidFill>
              </a:rPr>
              <a:t>维修保养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646856" y="5065776"/>
            <a:ext cx="11295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1816"/>
                </a:solidFill>
              </a:rPr>
              <a:t>2%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89370" y="5184648"/>
            <a:ext cx="1411948" cy="128016"/>
          </a:xfrm>
          <a:prstGeom prst="rect">
            <a:avLst/>
          </a:prstGeom>
          <a:solidFill>
            <a:srgbClr val="E5DCC8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89370" y="5184648"/>
            <a:ext cx="94130" cy="128016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2960" y="5532120"/>
            <a:ext cx="5647792" cy="438912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960120" y="5568696"/>
            <a:ext cx="282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816"/>
                </a:solidFill>
              </a:rPr>
              <a:t>其他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646856" y="5568696"/>
            <a:ext cx="11295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1816"/>
                </a:solidFill>
              </a:rPr>
              <a:t>3%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889370" y="5687568"/>
            <a:ext cx="1411948" cy="128016"/>
          </a:xfrm>
          <a:prstGeom prst="rect">
            <a:avLst/>
          </a:prstGeom>
          <a:solidFill>
            <a:srgbClr val="E5DCC8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89370" y="5687568"/>
            <a:ext cx="141195" cy="128016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45072" y="1508760"/>
            <a:ext cx="46209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745072" y="1508760"/>
            <a:ext cx="45720" cy="347472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45072" y="1828800"/>
            <a:ext cx="4620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22%</a:t>
            </a:r>
            <a:endParaRPr lang="en-US" sz="5600" dirty="0"/>
          </a:p>
        </p:txBody>
      </p:sp>
      <p:sp>
        <p:nvSpPr>
          <p:cNvPr id="54" name="Text 52"/>
          <p:cNvSpPr/>
          <p:nvPr/>
        </p:nvSpPr>
        <p:spPr>
          <a:xfrm>
            <a:off x="6745072" y="2606040"/>
            <a:ext cx="4620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C8A72"/>
                </a:solidFill>
              </a:rPr>
              <a:t>目标 EBITDA 率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745072" y="3017520"/>
            <a:ext cx="4620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综合成本率约78%，与优质复合文旅运营项目一致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826932" y="3657600"/>
            <a:ext cx="457200" cy="2286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45072" y="3794760"/>
            <a:ext cx="4620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C8A72"/>
                </a:solidFill>
              </a:rPr>
              <a:t>营销推广 4% · 活动运营 3%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C8A72"/>
                </a:solidFill>
              </a:rPr>
              <a:t>维修保养 2% · 其他 3%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39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6.3 · 商业模式画布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Business Model Canvas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463040"/>
            <a:ext cx="3441192" cy="137160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554480"/>
            <a:ext cx="307543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816"/>
                </a:solidFill>
              </a:rPr>
              <a:t>关键伙伴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847088"/>
            <a:ext cx="30754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C4E3E"/>
                </a:solidFill>
              </a:rPr>
              <a:t>非遗传承人 · 艺术家 · 品牌方 · 政府 · 旅行社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73880" y="1463040"/>
            <a:ext cx="3441192" cy="137160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56760" y="1554480"/>
            <a:ext cx="307543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816"/>
                </a:solidFill>
              </a:rPr>
              <a:t>关键活动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56760" y="1847088"/>
            <a:ext cx="30754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C4E3E"/>
                </a:solidFill>
              </a:rPr>
              <a:t>餐饮运营 · 内容策展 · 会员管理 · 品牌营销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924800" y="1463040"/>
            <a:ext cx="3441192" cy="137160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07680" y="1554480"/>
            <a:ext cx="307543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816"/>
                </a:solidFill>
              </a:rPr>
              <a:t>核心资源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07680" y="1847088"/>
            <a:ext cx="30754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C4E3E"/>
                </a:solidFill>
              </a:rPr>
              <a:t>历史建筑 · 院落空间 · 文化IP · 运营团队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22960" y="2944368"/>
            <a:ext cx="3441192" cy="137160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3035808"/>
            <a:ext cx="307543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816"/>
                </a:solidFill>
              </a:rPr>
              <a:t>价值主张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328416"/>
            <a:ext cx="30754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C4E3E"/>
                </a:solidFill>
              </a:rPr>
              <a:t>江南生活方式的当代复兴 · 一站式文化目的地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73880" y="2944368"/>
            <a:ext cx="3441192" cy="137160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56760" y="3035808"/>
            <a:ext cx="307543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816"/>
                </a:solidFill>
              </a:rPr>
              <a:t>客户关系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56760" y="3328416"/>
            <a:ext cx="30754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C4E3E"/>
                </a:solidFill>
              </a:rPr>
              <a:t>会员制 · 私域社群 · 个性化服务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924800" y="2944368"/>
            <a:ext cx="3441192" cy="137160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07680" y="3035808"/>
            <a:ext cx="307543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816"/>
                </a:solidFill>
              </a:rPr>
              <a:t>渠道通路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107680" y="3328416"/>
            <a:ext cx="30754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C4E3E"/>
                </a:solidFill>
              </a:rPr>
              <a:t>抖音 · 小红书 · 公众号 · 旅行社 · 企业直销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22960" y="4425696"/>
            <a:ext cx="3441192" cy="137160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05840" y="4517136"/>
            <a:ext cx="307543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816"/>
                </a:solidFill>
              </a:rPr>
              <a:t>客户细分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809744"/>
            <a:ext cx="30754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C4E3E"/>
                </a:solidFill>
              </a:rPr>
              <a:t>商务宴请 · 品质家庭 · 文化消费者 · 企业 · 婚礼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73880" y="4425696"/>
            <a:ext cx="344119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73880" y="4425696"/>
            <a:ext cx="45720" cy="137160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56760" y="4517136"/>
            <a:ext cx="307543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23A2A"/>
                </a:solidFill>
              </a:rPr>
              <a:t>成本结构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56760" y="4809744"/>
            <a:ext cx="30754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C4E3E"/>
                </a:solidFill>
              </a:rPr>
              <a:t>食材27% · 人工21% · 折旧7% · 物业7%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924800" y="4425696"/>
            <a:ext cx="344119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924800" y="4425696"/>
            <a:ext cx="45720" cy="137160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07680" y="4517136"/>
            <a:ext cx="307543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23A2A"/>
                </a:solidFill>
              </a:rPr>
              <a:t>收入来源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07680" y="4809744"/>
            <a:ext cx="30754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C4E3E"/>
                </a:solidFill>
              </a:rPr>
              <a:t>餐饮40% · 宴会20% · 企业10% · 会员8% · 课程6% · 文创6% · 场地5% · 品牌5%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40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858000" y="274320"/>
            <a:ext cx="5029200" cy="594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0" b="1" dirty="0">
                <a:solidFill>
                  <a:srgbClr val="C23A2A">
                    <a:alpha val="12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07</a:t>
            </a:r>
            <a:endParaRPr lang="en-US" sz="26000" dirty="0"/>
          </a:p>
        </p:txBody>
      </p:sp>
      <p:sp>
        <p:nvSpPr>
          <p:cNvPr id="5" name="Text 3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第七章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投资模型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5C4E3E"/>
                </a:solidFill>
              </a:rPr>
              <a:t>完整的CAPEX、OPEX、现金流预测和投资回报分析，达到投融资文件标准。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41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7.1 · 一次性投资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CAPEX 投资明细</a:t>
            </a:r>
            <a:endParaRPr lang="en-US" sz="27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08760"/>
          <a:ext cx="5982371" cy="914400"/>
        </p:xfrm>
        <a:graphic>
          <a:graphicData uri="http://schemas.openxmlformats.org/drawingml/2006/table">
            <a:tbl>
              <a:tblPr/>
              <a:tblGrid>
                <a:gridCol w="2991185"/>
                <a:gridCol w="1794711"/>
                <a:gridCol w="1196474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项目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金额（万元）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占比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4E3E"/>
                          </a:solidFill>
                        </a:rPr>
                        <a:t>建筑修缮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4E3E"/>
                          </a:solidFill>
                        </a:rPr>
                        <a:t>900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4E3E"/>
                          </a:solidFill>
                        </a:rPr>
                        <a:t>17%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4E3E"/>
                          </a:solidFill>
                        </a:rPr>
                        <a:t>结构加固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4E3E"/>
                          </a:solidFill>
                        </a:rPr>
                        <a:t>350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4E3E"/>
                          </a:solidFill>
                        </a:rPr>
                        <a:t>7%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4E3E"/>
                          </a:solidFill>
                        </a:rPr>
                        <a:t>机电系统更新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4E3E"/>
                          </a:solidFill>
                        </a:rPr>
                        <a:t>500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4E3E"/>
                          </a:solidFill>
                        </a:rPr>
                        <a:t>9%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4E3E"/>
                          </a:solidFill>
                        </a:rPr>
                        <a:t>室内装修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4E3E"/>
                          </a:solidFill>
                        </a:rPr>
                        <a:t>1,200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4E3E"/>
                          </a:solidFill>
                        </a:rPr>
                        <a:t>22%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4E3E"/>
                          </a:solidFill>
                        </a:rPr>
                        <a:t>厨房及后勤设备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4E3E"/>
                          </a:solidFill>
                        </a:rPr>
                        <a:t>450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4E3E"/>
                          </a:solidFill>
                        </a:rPr>
                        <a:t>8%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4E3E"/>
                          </a:solidFill>
                        </a:rPr>
                        <a:t>展陈及数字互动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4E3E"/>
                          </a:solidFill>
                        </a:rPr>
                        <a:t>350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4E3E"/>
                          </a:solidFill>
                        </a:rPr>
                        <a:t>7%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4E3E"/>
                          </a:solidFill>
                        </a:rPr>
                        <a:t>景观庭院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4E3E"/>
                          </a:solidFill>
                        </a:rPr>
                        <a:t>280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4E3E"/>
                          </a:solidFill>
                        </a:rPr>
                        <a:t>5%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4E3E"/>
                          </a:solidFill>
                        </a:rPr>
                        <a:t>家具软装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4E3E"/>
                          </a:solidFill>
                        </a:rPr>
                        <a:t>420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4E3E"/>
                          </a:solidFill>
                        </a:rPr>
                        <a:t>8%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4E3E"/>
                          </a:solidFill>
                        </a:rPr>
                        <a:t>智慧管理系统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4E3E"/>
                          </a:solidFill>
                        </a:rPr>
                        <a:t>180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4E3E"/>
                          </a:solidFill>
                        </a:rPr>
                        <a:t>3%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4E3E"/>
                          </a:solidFill>
                        </a:rPr>
                        <a:t>开业筹备费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4E3E"/>
                          </a:solidFill>
                        </a:rPr>
                        <a:t>220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4E3E"/>
                          </a:solidFill>
                        </a:rPr>
                        <a:t>4%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4E3E"/>
                          </a:solidFill>
                        </a:rPr>
                        <a:t>不可预见费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4E3E"/>
                          </a:solidFill>
                        </a:rPr>
                        <a:t>485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4E3E"/>
                          </a:solidFill>
                        </a:rPr>
                        <a:t>9%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23A2A"/>
                          </a:solidFill>
                        </a:rPr>
                        <a:t>总投资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23A2A"/>
                          </a:solidFill>
                        </a:rPr>
                        <a:t>5,335万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4E3E"/>
                          </a:solidFill>
                        </a:rPr>
                        <a:t>100%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033931" y="1508760"/>
            <a:ext cx="4332061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033931" y="1508760"/>
            <a:ext cx="45720" cy="347472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62531" y="1627632"/>
            <a:ext cx="3874861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</a:rPr>
              <a:t>投资重点提示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08251" y="2011680"/>
            <a:ext cx="3783421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· 室内装修占比最大（22%），需精细控制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308251" y="2423160"/>
            <a:ext cx="3783421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· 机电改造+结构加固共850万，是历史建筑活化核心支出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308251" y="2834640"/>
            <a:ext cx="3783421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· 不可预见费预留约10%，低于此比例风险较高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08251" y="3246120"/>
            <a:ext cx="3783421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· 前期尽调不充分是超预算的主要原因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308251" y="3749040"/>
            <a:ext cx="457200" cy="2286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08251" y="3886200"/>
            <a:ext cx="3783421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C8A72"/>
                </a:solidFill>
              </a:rPr>
              <a:t>历史建筑活化项目的投资重点通常集中在机电改造、结构适配和室内更新。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42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7.2 · 五年现金流预测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基准情景 · 5年现金流</a:t>
            </a:r>
            <a:endParaRPr lang="en-US" sz="27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54480"/>
          <a:ext cx="1054303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828800"/>
                <a:gridCol w="2286000"/>
                <a:gridCol w="322783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年份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营业收入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EBITDA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经营现金流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累计现金流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建设期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23A2A"/>
                          </a:solidFill>
                        </a:rPr>
                        <a:t>-5,335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23A2A"/>
                          </a:solidFill>
                        </a:rPr>
                        <a:t>-5,335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23A2A"/>
                          </a:solidFill>
                        </a:rPr>
                        <a:t>-5,335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第1年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4,200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630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420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23A2A"/>
                          </a:solidFill>
                        </a:rPr>
                        <a:t>-4,915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第2年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5,600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980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760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23A2A"/>
                          </a:solidFill>
                        </a:rPr>
                        <a:t>-4,155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第3年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6,500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1,300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1,080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23A2A"/>
                          </a:solidFill>
                        </a:rPr>
                        <a:t>-3,075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第4年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7,100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1,490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1,260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23A2A"/>
                          </a:solidFill>
                        </a:rPr>
                        <a:t>-1,815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第5年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7,800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1,640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1,430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23A2A"/>
                          </a:solidFill>
                        </a:rPr>
                        <a:t>-385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393192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9C8A72"/>
                </a:solidFill>
              </a:rPr>
              <a:t>* 单位：万元。若采用银行贷款、政府补助或社会资本共同投资，股东现金回收时间会进一步缩短。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43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7.3 · 投资回报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三种情景测算</a:t>
            </a:r>
            <a:endParaRPr lang="en-US" sz="27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08760"/>
          <a:ext cx="1054303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2286000"/>
                <a:gridCol w="277063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指标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保守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基准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乐观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年客流（万人）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18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25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32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综合客单价（元）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220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260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320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营业收入（万元）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4,800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6,500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8,200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EBITDA率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16%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20%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24%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税后净利率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8%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12%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15%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C4E3E"/>
                          </a:solidFill>
                        </a:rPr>
                        <a:t>投资回收期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C4E3E"/>
                          </a:solidFill>
                        </a:rPr>
                        <a:t>7.0年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23A2A"/>
                          </a:solidFill>
                        </a:rPr>
                        <a:t>5.5年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C4E3E"/>
                          </a:solidFill>
                        </a:rPr>
                        <a:t>4.2年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项目IRR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11%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16%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20%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4160520"/>
            <a:ext cx="1054303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4160520"/>
            <a:ext cx="45720" cy="64008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4233672"/>
            <a:ext cx="100858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投资人视角：历史建筑活化及城市更新类项目，IRR通常需要结合项目风险、资金结构和公共价值综合判断，而不是单独追求最高收益。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44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7.4 · 压力测试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敏感性分析：最坏情况能否存活？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5157216" cy="128016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618488"/>
            <a:ext cx="47000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8944A"/>
                </a:solidFill>
              </a:rPr>
              <a:t>客流下降10%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51560" y="1920240"/>
            <a:ext cx="47000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收入5,850万 · EBITDA 18% · 仍盈利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08776" y="1508760"/>
            <a:ext cx="5157216" cy="128016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37376" y="1618488"/>
            <a:ext cx="47000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8944A"/>
                </a:solidFill>
              </a:rPr>
              <a:t>客单下降10%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37376" y="1920240"/>
            <a:ext cx="47000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收入5,850万 · 净利润降20% · 仍盈利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2971800"/>
            <a:ext cx="5157216" cy="128016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3081528"/>
            <a:ext cx="47000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8944A"/>
                </a:solidFill>
              </a:rPr>
              <a:t>人工上涨15%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51560" y="3383280"/>
            <a:ext cx="47000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EBITDA约18% · 仍盈利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08776" y="2971800"/>
            <a:ext cx="515721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08776" y="2971800"/>
            <a:ext cx="45720" cy="128016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7376" y="3081528"/>
            <a:ext cx="47000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C23A2A"/>
                </a:solidFill>
              </a:rPr>
              <a:t>极端情景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37376" y="3383280"/>
            <a:ext cx="47000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客流-20% + 人工+15% + 营销+20%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现金流仍为正，回本延长至约7年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3484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5C4E3E"/>
                </a:solidFill>
              </a:rPr>
              <a:t>结论：项目具有一定的抗风险能力。即使极端情景下，仍能保持现金流为正。</a:t>
            </a:r>
            <a:endParaRPr lang="en-US" sz="13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45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7.5 · 价值增长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四张"隐性资产"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517093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91640"/>
            <a:ext cx="51709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1,500→3,000人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517093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8A72"/>
                </a:solidFill>
              </a:rPr>
              <a:t>会员资产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51709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第1年→第5年，高粘性用户池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95060" y="1508760"/>
            <a:ext cx="517093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95060" y="1691640"/>
            <a:ext cx="51709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区域→上海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95060" y="2194560"/>
            <a:ext cx="517093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8A72"/>
                </a:solidFill>
              </a:rPr>
              <a:t>品牌资产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95060" y="2468880"/>
            <a:ext cx="51709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从南翔品牌到上海文化名片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3090672"/>
            <a:ext cx="517093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3273552"/>
            <a:ext cx="51709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50→1,000+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2960" y="3776472"/>
            <a:ext cx="517093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8A72"/>
                </a:solidFill>
              </a:rPr>
              <a:t>内容资产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050792"/>
            <a:ext cx="51709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活动场次→内容素材库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95060" y="3090672"/>
            <a:ext cx="517093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95060" y="3090672"/>
            <a:ext cx="45720" cy="141732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5060" y="3273552"/>
            <a:ext cx="51709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修复→标杆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195060" y="3776472"/>
            <a:ext cx="517093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8A72"/>
                </a:solidFill>
              </a:rPr>
              <a:t>物业资产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5060" y="4050792"/>
            <a:ext cx="51709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区域标杆项目，带动北入口升值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443484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5C4E3E"/>
                </a:solidFill>
              </a:rPr>
              <a:t>梅墅的价值不能只计算利润。这四项隐性资产，未来决定估值，而不是营业额。</a:t>
            </a:r>
            <a:endParaRPr lang="en-US" sz="13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46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858000" y="274320"/>
            <a:ext cx="5029200" cy="594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0" b="1" dirty="0">
                <a:solidFill>
                  <a:srgbClr val="C23A2A">
                    <a:alpha val="12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08</a:t>
            </a:r>
            <a:endParaRPr lang="en-US" sz="26000" dirty="0"/>
          </a:p>
        </p:txBody>
      </p:sp>
      <p:sp>
        <p:nvSpPr>
          <p:cNvPr id="5" name="Text 3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第八章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运营体系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5C4E3E"/>
                </a:solidFill>
              </a:rPr>
              <a:t>从组织架构到SOP，从营销到招商，建立完整的运营管理系统。</a:t>
            </a:r>
            <a:endParaRPr lang="en-US" sz="15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47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8.1 · 组织架构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运营团队架构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212080" y="1508760"/>
            <a:ext cx="1828800" cy="594360"/>
          </a:xfrm>
          <a:prstGeom prst="rect">
            <a:avLst/>
          </a:prstGeom>
          <a:solidFill>
            <a:srgbClr val="F5EDE0"/>
          </a:solidFill>
          <a:ln w="19050">
            <a:solidFill>
              <a:srgbClr val="C23A2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212080" y="15087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A1816"/>
                </a:solidFill>
              </a:rPr>
              <a:t>总经理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852160" y="21488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C8A72"/>
                </a:solidFill>
              </a:rPr>
              <a:t>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468880"/>
            <a:ext cx="2498598" cy="109728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606040"/>
            <a:ext cx="249859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816"/>
                </a:solidFill>
              </a:rPr>
              <a:t>餐饮部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926080"/>
            <a:ext cx="24985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主厨 · 厨房 · 服务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04438" y="2468880"/>
            <a:ext cx="2498598" cy="109728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04438" y="2606040"/>
            <a:ext cx="249859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816"/>
                </a:solidFill>
              </a:rPr>
              <a:t>文化部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04438" y="2926080"/>
            <a:ext cx="24985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策展 · 课程 · 非遗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85916" y="2468880"/>
            <a:ext cx="2498598" cy="109728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85916" y="2606040"/>
            <a:ext cx="249859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816"/>
                </a:solidFill>
              </a:rPr>
              <a:t>市场部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85916" y="2926080"/>
            <a:ext cx="24985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品牌 · 营销 · 私域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867394" y="2468880"/>
            <a:ext cx="2498598" cy="109728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867394" y="2606040"/>
            <a:ext cx="249859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816"/>
                </a:solidFill>
              </a:rPr>
              <a:t>运营部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67394" y="2926080"/>
            <a:ext cx="24985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会员 · 招商 · 行政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3886200"/>
            <a:ext cx="1054303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3886200"/>
            <a:ext cx="45720" cy="73152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3959352"/>
            <a:ext cx="10085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C4E3E"/>
                </a:solidFill>
              </a:rPr>
              <a:t>关键原则：管理层及核心员工来自五星级酒店，具有极强的专业素养。文化部是区别于传统餐饮的核心部门，负责内容策展和活动运营。</a:t>
            </a:r>
            <a:endParaRPr lang="en-US" sz="11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48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8.2 · 营销策略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全渠道营销矩阵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340461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08760"/>
            <a:ext cx="45720" cy="128016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00200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816"/>
                </a:solidFill>
              </a:rPr>
              <a:t>抖音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892808"/>
            <a:ext cx="30388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C4E3E"/>
                </a:solidFill>
              </a:rPr>
              <a:t>短视频内容：庭院美学、茶道过程、活动花絮 · 达人探店合作 · 直播带货（文创/课程）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92168" y="1508760"/>
            <a:ext cx="340461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92168" y="1508760"/>
            <a:ext cx="45720" cy="128016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5048" y="1600200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816"/>
                </a:solidFill>
              </a:rPr>
              <a:t>小红书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5048" y="1892808"/>
            <a:ext cx="30388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C4E3E"/>
                </a:solidFill>
              </a:rPr>
              <a:t>图文种草：打卡攻略、穿搭指南、美食测评 · KOC矩阵 · 话题运营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961376" y="1508760"/>
            <a:ext cx="340461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61376" y="1508760"/>
            <a:ext cx="45720" cy="128016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44256" y="1600200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816"/>
                </a:solidFill>
              </a:rPr>
              <a:t>公众号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44256" y="1892808"/>
            <a:ext cx="30388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C4E3E"/>
                </a:solidFill>
              </a:rPr>
              <a:t>深度内容：历史文化、节气活动、会员故事 · 私域沉淀 · 活动报名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2960" y="2926080"/>
            <a:ext cx="340461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2926080"/>
            <a:ext cx="45720" cy="128016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017520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816"/>
                </a:solidFill>
              </a:rPr>
              <a:t>企业直销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310128"/>
            <a:ext cx="30388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C4E3E"/>
                </a:solidFill>
              </a:rPr>
              <a:t>商务宴请、企业活动、团建定制 · CRM管理 · 长期合作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92168" y="2926080"/>
            <a:ext cx="340461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92168" y="2926080"/>
            <a:ext cx="45720" cy="128016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5048" y="3017520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816"/>
                </a:solidFill>
              </a:rPr>
              <a:t>旅行社/OTA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5048" y="3310128"/>
            <a:ext cx="30388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C4E3E"/>
                </a:solidFill>
              </a:rPr>
              <a:t>南翔古镇旅游线路嵌入 · 携程/美团套餐 · 团体预订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961376" y="2926080"/>
            <a:ext cx="340461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961376" y="2926080"/>
            <a:ext cx="45720" cy="128016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44256" y="3017520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816"/>
                </a:solidFill>
              </a:rPr>
              <a:t>品牌合作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44256" y="3310128"/>
            <a:ext cx="30388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C4E3E"/>
                </a:solidFill>
              </a:rPr>
              <a:t>汽车/奢侈品/茶品牌联名活动 · 品牌发布会 · 跨界快闪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49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8.3 · 招商方案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自营 vs 联营 vs 招商</a:t>
            </a:r>
            <a:endParaRPr lang="en-US" sz="27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54480"/>
          <a:ext cx="1054303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642823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业态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模式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理由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品质餐饮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23A2A"/>
                          </a:solidFill>
                        </a:rPr>
                        <a:t>自营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核心收入来源，品质控制关键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茶道/香道/花道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23A2A"/>
                          </a:solidFill>
                        </a:rPr>
                        <a:t>自营+合作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自营课程+邀请非遗传承人合作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文创零售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联营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品牌联名+分成模式，降低库存风险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艺术展览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合作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邀请艺术家驻留，场地+分成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咖啡/茶饮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23A2A"/>
                          </a:solidFill>
                        </a:rPr>
                        <a:t>自营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流量入口，需要统一品质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汉服体验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招商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4E3E"/>
                          </a:solidFill>
                        </a:rPr>
                        <a:t>专业运营方，租金+分成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50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858000" y="274320"/>
            <a:ext cx="5029200" cy="594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0" b="1" dirty="0">
                <a:solidFill>
                  <a:srgbClr val="C23A2A">
                    <a:alpha val="12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09</a:t>
            </a:r>
            <a:endParaRPr lang="en-US" sz="26000" dirty="0"/>
          </a:p>
        </p:txBody>
      </p:sp>
      <p:sp>
        <p:nvSpPr>
          <p:cNvPr id="5" name="Text 3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第九章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实施计划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5C4E3E"/>
                </a:solidFill>
              </a:rPr>
              <a:t>五阶段推进，从设计到正式运营，每一步都有明确的时间节点和交付标准。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51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9.1 · 实施路径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五阶段推进策略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207008" y="1600200"/>
            <a:ext cx="22860" cy="4160520"/>
          </a:xfrm>
          <a:prstGeom prst="rect">
            <a:avLst/>
          </a:prstGeom>
          <a:solidFill>
            <a:srgbClr val="C23A2A">
              <a:alpha val="NaN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1288" y="1636776"/>
            <a:ext cx="128016" cy="128016"/>
          </a:xfrm>
          <a:prstGeom prst="ellipse">
            <a:avLst/>
          </a:prstGeom>
          <a:solidFill>
            <a:srgbClr val="FAF7F0"/>
          </a:solidFill>
          <a:ln w="19050">
            <a:solidFill>
              <a:srgbClr val="C23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60020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第一阶段 · 设计（3-4个月）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1874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建筑测绘 · 方案设计 · 施工图 · 政府审批 · 品牌VI设计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61288" y="2505456"/>
            <a:ext cx="128016" cy="128016"/>
          </a:xfrm>
          <a:prstGeom prst="ellipse">
            <a:avLst/>
          </a:prstGeom>
          <a:solidFill>
            <a:srgbClr val="FAF7F0"/>
          </a:solidFill>
          <a:ln w="19050">
            <a:solidFill>
              <a:srgbClr val="C23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246888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第二阶段 · 施工（8-12个月）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27432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结构加固 · 机电更新 · 室内装修 · 景观庭院 · 展陈安装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61288" y="3374136"/>
            <a:ext cx="128016" cy="128016"/>
          </a:xfrm>
          <a:prstGeom prst="ellipse">
            <a:avLst/>
          </a:prstGeom>
          <a:solidFill>
            <a:srgbClr val="FAF7F0"/>
          </a:solidFill>
          <a:ln w="19050">
            <a:solidFill>
              <a:srgbClr val="C23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33375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第三阶段 · 招商（与施工并行）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361188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品牌洽谈 · 非遗合作 · 艺术家签约 · 供应商体系搭建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61288" y="4242816"/>
            <a:ext cx="128016" cy="128016"/>
          </a:xfrm>
          <a:prstGeom prst="ellipse">
            <a:avLst/>
          </a:prstGeom>
          <a:solidFill>
            <a:srgbClr val="FAF7F0"/>
          </a:solidFill>
          <a:ln w="19050">
            <a:solidFill>
              <a:srgbClr val="C23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4206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第四阶段 · 试营业（2-3个月）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44805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团队培训 · 流程测试 · 媒体预热 · KOL邀请 · 会员预售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61288" y="5111496"/>
            <a:ext cx="128016" cy="128016"/>
          </a:xfrm>
          <a:prstGeom prst="ellipse">
            <a:avLst/>
          </a:prstGeom>
          <a:solidFill>
            <a:srgbClr val="FAF7F0"/>
          </a:solidFill>
          <a:ln w="19050">
            <a:solidFill>
              <a:srgbClr val="C23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507492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第五阶段 · 正式运营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53492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23A2A"/>
                </a:solidFill>
              </a:rPr>
              <a:t>全面开放 · 全年活动启动 · 持续迭代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52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9.2 · 关键里程碑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项目关键节点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5180076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08760"/>
            <a:ext cx="45720" cy="132588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618488"/>
            <a:ext cx="47228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</a:rPr>
              <a:t>M1 · 方案获批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920240"/>
            <a:ext cx="47228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政府审批通过，取得施工许可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51560" y="2514600"/>
            <a:ext cx="1188720" cy="237744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5328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8A72"/>
                </a:solidFill>
              </a:rPr>
              <a:t>第4个月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85916" y="1508760"/>
            <a:ext cx="5180076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85916" y="1508760"/>
            <a:ext cx="45720" cy="132588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4516" y="1618488"/>
            <a:ext cx="47228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</a:rPr>
              <a:t>M2 · 结构完工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14516" y="1920240"/>
            <a:ext cx="47228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结构加固+机电更新完成，具备装修条件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14516" y="2514600"/>
            <a:ext cx="1188720" cy="237744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5956" y="25328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8A72"/>
                </a:solidFill>
              </a:rPr>
              <a:t>第10个月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22960" y="2999232"/>
            <a:ext cx="5180076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2999232"/>
            <a:ext cx="45720" cy="132588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108960"/>
            <a:ext cx="47228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</a:rPr>
              <a:t>M3 · 装修竣工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410712"/>
            <a:ext cx="47228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室内装修+景观庭院+展陈全部完成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51560" y="4005072"/>
            <a:ext cx="1188720" cy="237744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40233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8A72"/>
                </a:solidFill>
              </a:rPr>
              <a:t>第16个月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85916" y="2999232"/>
            <a:ext cx="5180076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85916" y="2999232"/>
            <a:ext cx="45720" cy="132588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4516" y="3108960"/>
            <a:ext cx="47228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</a:rPr>
              <a:t>M4 · 试营业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14516" y="3410712"/>
            <a:ext cx="47228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团队到位，流程跑通，媒体预热启动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14516" y="4005072"/>
            <a:ext cx="1188720" cy="237744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05956" y="40233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8A72"/>
                </a:solidFill>
              </a:rPr>
              <a:t>第18个月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22960" y="4489704"/>
            <a:ext cx="5180076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2960" y="4489704"/>
            <a:ext cx="45720" cy="132588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4599432"/>
            <a:ext cx="47228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</a:rPr>
              <a:t>M5 · 正式运营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51560" y="4901184"/>
            <a:ext cx="47228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全面开放，全年活动体系启动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51560" y="5495544"/>
            <a:ext cx="1188720" cy="237744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43000" y="551383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8A72"/>
                </a:solidFill>
              </a:rPr>
              <a:t>第20个月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85916" y="4489704"/>
            <a:ext cx="5180076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85916" y="4489704"/>
            <a:ext cx="45720" cy="132588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4516" y="4599432"/>
            <a:ext cx="47228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3A2A"/>
                </a:solidFill>
              </a:rPr>
              <a:t>M6 · 盈亏平衡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14516" y="4901184"/>
            <a:ext cx="47228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C4E3E"/>
                </a:solidFill>
              </a:rPr>
              <a:t>年营收达4,800万，实现月度盈利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14516" y="5495544"/>
            <a:ext cx="1188720" cy="237744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05956" y="551383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8A72"/>
                </a:solidFill>
              </a:rPr>
              <a:t>运营第2年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53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858000" y="274320"/>
            <a:ext cx="5029200" cy="594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0" b="1" dirty="0">
                <a:solidFill>
                  <a:srgbClr val="C23A2A">
                    <a:alpha val="12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10</a:t>
            </a:r>
            <a:endParaRPr lang="en-US" sz="26000" dirty="0"/>
          </a:p>
        </p:txBody>
      </p:sp>
      <p:sp>
        <p:nvSpPr>
          <p:cNvPr id="5" name="Text 3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第十章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风险控制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5C4E3E"/>
                </a:solidFill>
              </a:rPr>
              <a:t>Red Team对抗式审查：如果我是投资人，我会怎么挑战这个方案？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54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10.1 · Red Team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六大核心挑战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3404616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08760"/>
            <a:ext cx="45720" cy="137160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00200"/>
            <a:ext cx="30388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23A2A"/>
                </a:solidFill>
              </a:rPr>
              <a:t>Challenge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30388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1816"/>
                </a:solidFill>
              </a:rPr>
              <a:t>为什么游客要进来？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05840" y="2167128"/>
            <a:ext cx="3038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C4E3E"/>
                </a:solidFill>
              </a:rPr>
              <a:t>必须创造独特体验，一进院免费开放+打卡装置+历史展示形成吸引力。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92168" y="1508760"/>
            <a:ext cx="3404616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92168" y="1508760"/>
            <a:ext cx="45720" cy="137160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5048" y="1600200"/>
            <a:ext cx="30388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23A2A"/>
                </a:solidFill>
              </a:rPr>
              <a:t>Challenge 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5048" y="1828800"/>
            <a:ext cx="30388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1816"/>
                </a:solidFill>
              </a:rPr>
              <a:t>本地人为何一年来三次？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5048" y="2167128"/>
            <a:ext cx="3038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C4E3E"/>
                </a:solidFill>
              </a:rPr>
              <a:t>全年活动日历+会员体系+内容持续更新，提供重复到访的理由。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961376" y="1508760"/>
            <a:ext cx="3404616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61376" y="1508760"/>
            <a:ext cx="45720" cy="137160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44256" y="1600200"/>
            <a:ext cx="30388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23A2A"/>
                </a:solidFill>
              </a:rPr>
              <a:t>Challenge 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144256" y="1828800"/>
            <a:ext cx="30388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1816"/>
                </a:solidFill>
              </a:rPr>
              <a:t>商务宴请为何不去蟠龙天地？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144256" y="2167128"/>
            <a:ext cx="3038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C4E3E"/>
                </a:solidFill>
              </a:rPr>
              <a:t>历史文化底蕴+私密院落+定制私宴，提供不可替代的体验差异。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22960" y="3017520"/>
            <a:ext cx="3404616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3017520"/>
            <a:ext cx="45720" cy="137160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108960"/>
            <a:ext cx="30388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23A2A"/>
                </a:solidFill>
              </a:rPr>
              <a:t>Challenge 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05840" y="3337560"/>
            <a:ext cx="30388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1816"/>
                </a:solidFill>
              </a:rPr>
              <a:t>年轻人为何拍照传播？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05840" y="3675888"/>
            <a:ext cx="3038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C4E3E"/>
                </a:solidFill>
              </a:rPr>
              <a:t>设计感打卡点+庭院美学+汉服体验+展览装置，制造社交货币。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392168" y="3017520"/>
            <a:ext cx="3404616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92168" y="3017520"/>
            <a:ext cx="45720" cy="137160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5048" y="3108960"/>
            <a:ext cx="30388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23A2A"/>
                </a:solidFill>
              </a:rPr>
              <a:t>Challenge 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5048" y="3337560"/>
            <a:ext cx="30388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1816"/>
                </a:solidFill>
              </a:rPr>
              <a:t>为什么不能复制？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5048" y="3675888"/>
            <a:ext cx="3038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C4E3E"/>
                </a:solidFill>
              </a:rPr>
              <a:t>Location+Heritage+Operation三重壁垒，任何古镇都无法简单复制。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961376" y="3017520"/>
            <a:ext cx="3404616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961376" y="3017520"/>
            <a:ext cx="45720" cy="137160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44256" y="3108960"/>
            <a:ext cx="30388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23A2A"/>
                </a:solidFill>
              </a:rPr>
              <a:t>Challenge 6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144256" y="3337560"/>
            <a:ext cx="30388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1816"/>
                </a:solidFill>
              </a:rPr>
              <a:t>历史叙事风险如何控制？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144256" y="3675888"/>
            <a:ext cx="3038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C4E3E"/>
                </a:solidFill>
              </a:rPr>
              <a:t>建立史料等级制度，张志崇/王文娟事件严禁娱乐化消费。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55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10.2 · 风险矩阵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风险评级与应对</a:t>
            </a:r>
            <a:endParaRPr lang="en-US" sz="27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54480"/>
          <a:ext cx="1054303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97280"/>
                <a:gridCol w="1097280"/>
                <a:gridCol w="560527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风险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概率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影响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816"/>
                          </a:solidFill>
                        </a:rPr>
                        <a:t>应对策略</a:t>
                      </a:r>
                      <a:endParaRPr lang="en-US" sz="9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5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历史真实性争议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8944A"/>
                          </a:solidFill>
                        </a:rPr>
                        <a:t>中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23A2A"/>
                          </a:solidFill>
                        </a:rPr>
                        <a:t>高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史料等级标注，聘请历史顾问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收入预测过于乐观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23A2A"/>
                          </a:solidFill>
                        </a:rPr>
                        <a:t>高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23A2A"/>
                          </a:solidFill>
                        </a:rPr>
                        <a:t>高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三情景测算，月现金流模型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政府支持不确定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8944A"/>
                          </a:solidFill>
                        </a:rPr>
                        <a:t>中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8944A"/>
                          </a:solidFill>
                        </a:rPr>
                        <a:t>中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按"无补贴也能成立"设计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客流不足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8944A"/>
                          </a:solidFill>
                        </a:rPr>
                        <a:t>中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23A2A"/>
                          </a:solidFill>
                        </a:rPr>
                        <a:t>高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多元收入+内容驱动+精准营销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运营团队能力不足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8944A"/>
                          </a:solidFill>
                        </a:rPr>
                        <a:t>中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23A2A"/>
                          </a:solidFill>
                        </a:rPr>
                        <a:t>高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五星级酒店背景+文化人才引进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建筑改造超预算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23A2A"/>
                          </a:solidFill>
                        </a:rPr>
                        <a:t>高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8944A"/>
                          </a:solidFill>
                        </a:rPr>
                        <a:t>中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4E3E"/>
                          </a:solidFill>
                        </a:rPr>
                        <a:t>10%不可预见费+前期深度尽调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56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3A2A"/>
                </a:solidFill>
              </a:rPr>
              <a:t>10.3 · 投资保障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投资退出机制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3331464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54480"/>
            <a:ext cx="45720" cy="164592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33314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23A2A"/>
                </a:solidFill>
              </a:rPr>
              <a:t>路径一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965960"/>
            <a:ext cx="3331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816"/>
                </a:solidFill>
              </a:rPr>
              <a:t>持续分红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77440"/>
            <a:ext cx="33314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适合长期持有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稳定现金流回报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28744" y="1554480"/>
            <a:ext cx="3331464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28744" y="1554480"/>
            <a:ext cx="45720" cy="164592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28744" y="1691640"/>
            <a:ext cx="33314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23A2A"/>
                </a:solidFill>
              </a:rPr>
              <a:t>路径二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28744" y="1965960"/>
            <a:ext cx="3331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816"/>
                </a:solidFill>
              </a:rPr>
              <a:t>股权转让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28744" y="2377440"/>
            <a:ext cx="33314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品牌成熟后引入基金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溢价退出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34528" y="1554480"/>
            <a:ext cx="3331464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34528" y="1554480"/>
            <a:ext cx="45720" cy="164592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4528" y="1691640"/>
            <a:ext cx="33314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23A2A"/>
                </a:solidFill>
              </a:rPr>
              <a:t>路径三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34528" y="1965960"/>
            <a:ext cx="3331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816"/>
                </a:solidFill>
              </a:rPr>
              <a:t>资产增值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34528" y="2377440"/>
            <a:ext cx="33314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物业+品牌+IP整体升值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4E3E"/>
                </a:solidFill>
              </a:rPr>
              <a:t>城市更新资产退出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3520440"/>
            <a:ext cx="10543032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3520440"/>
            <a:ext cx="45720" cy="1097280"/>
          </a:xfrm>
          <a:prstGeom prst="rect">
            <a:avLst/>
          </a:prstGeom>
          <a:solidFill>
            <a:srgbClr val="B8944A"/>
          </a:solidFill>
          <a:ln w="6350">
            <a:solidFill>
              <a:srgbClr val="B894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3630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8944A"/>
                </a:solidFill>
              </a:rPr>
              <a:t>建议资本结构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51560" y="4023360"/>
            <a:ext cx="1828800" cy="27432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40507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4E3E"/>
                </a:solidFill>
              </a:rPr>
              <a:t>运营团队 20%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017520" y="4023360"/>
            <a:ext cx="1828800" cy="27432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0" y="40507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4E3E"/>
                </a:solidFill>
              </a:rPr>
              <a:t>产业投资人 35%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83480" y="4023360"/>
            <a:ext cx="1828800" cy="27432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40507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4E3E"/>
                </a:solidFill>
              </a:rPr>
              <a:t>地方国资 25%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949440" y="4023360"/>
            <a:ext cx="1828800" cy="27432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40507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4E3E"/>
                </a:solidFill>
              </a:rPr>
              <a:t>专项资金 10%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915400" y="4023360"/>
            <a:ext cx="1828800" cy="27432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06840" y="40507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4E3E"/>
                </a:solidFill>
              </a:rPr>
              <a:t>银行贷款 10%</a:t>
            </a:r>
            <a:endParaRPr lang="en-US" sz="9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57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C23A2A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430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4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一座百年宅邸的第四次重生，</a:t>
            </a:r>
            <a:endParaRPr lang="en-US" sz="3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34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不是装修升级，</a:t>
            </a:r>
            <a:endParaRPr lang="en-US" sz="3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34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而是重新定义。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820156" y="4206240"/>
            <a:ext cx="548640" cy="22860"/>
          </a:xfrm>
          <a:prstGeom prst="rect">
            <a:avLst/>
          </a:prstGeom>
          <a:solidFill>
            <a:srgbClr val="C23A2A"/>
          </a:solidFill>
          <a:ln w="6350">
            <a:solidFill>
              <a:srgbClr val="C23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89120"/>
            <a:ext cx="105430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5C4E3E"/>
                </a:solidFill>
              </a:rPr>
              <a:t>从"一家餐厅"到"江南生活方式目的地"，</a:t>
            </a:r>
            <a:endParaRPr lang="en-US" sz="15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5C4E3E"/>
                </a:solidFill>
              </a:rPr>
              <a:t>梅墅的未来不是餐饮赛道的竞争，</a:t>
            </a:r>
            <a:endParaRPr lang="en-US" sz="15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5C4E3E"/>
                </a:solidFill>
              </a:rPr>
              <a:t>而是文化消费新物种的创造。</a:t>
            </a:r>
            <a:endParaRPr lang="en-US" sz="15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南翔梅墅 · 文化复兴总体规划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8A72"/>
                </a:solidFill>
              </a:rPr>
              <a:t>58 / 58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651760" y="731520"/>
            <a:ext cx="688543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C23A2A">
                    <a:alpha val="12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梅墅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822960" y="256032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8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感谢阅读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C4E3E"/>
                </a:solidFill>
              </a:rPr>
              <a:t>南翔梅墅文化复兴总体规划（2026-2036）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808476" y="4023360"/>
            <a:ext cx="2286000" cy="32004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99916" y="405079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上海市嘉定区南翔镇德华路617号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77356" y="4023360"/>
            <a:ext cx="2286000" cy="320040"/>
          </a:xfrm>
          <a:prstGeom prst="rect">
            <a:avLst/>
          </a:prstGeom>
          <a:solidFill>
            <a:srgbClr val="F7F3E9"/>
          </a:solidFill>
          <a:ln w="6350">
            <a:solidFill>
              <a:srgbClr val="E5DC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68796" y="405079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4E3E"/>
                </a:solidFill>
              </a:rPr>
              <a:t>021-39160777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484632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8A72"/>
                </a:solidFill>
              </a:rPr>
              <a:t>本报告为项目可研阶段规划方案，具体数据以施工图设计和运营数据为准。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南翔梅墅文化复兴总体规划（2026-2036）</dc:title>
  <dc:subject>PptxGenJS Presentation</dc:subject>
  <dc:creator>南翔梅墅</dc:creator>
  <cp:lastModifiedBy>南翔梅墅</cp:lastModifiedBy>
  <cp:revision>1</cp:revision>
  <dcterms:created xsi:type="dcterms:W3CDTF">2026-07-08T03:53:21Z</dcterms:created>
  <dcterms:modified xsi:type="dcterms:W3CDTF">2026-07-08T03:53:21Z</dcterms:modified>
</cp:coreProperties>
</file>